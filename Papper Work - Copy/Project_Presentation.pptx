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9" r:id="rId4"/>
    <p:sldId id="269" r:id="rId5"/>
    <p:sldId id="287" r:id="rId6"/>
    <p:sldId id="288" r:id="rId7"/>
    <p:sldId id="289" r:id="rId8"/>
    <p:sldId id="290" r:id="rId9"/>
    <p:sldId id="283" r:id="rId10"/>
    <p:sldId id="280" r:id="rId11"/>
    <p:sldId id="281" r:id="rId12"/>
    <p:sldId id="282" r:id="rId13"/>
    <p:sldId id="278" r:id="rId14"/>
    <p:sldId id="276" r:id="rId15"/>
    <p:sldId id="277" r:id="rId16"/>
    <p:sldId id="275" r:id="rId17"/>
    <p:sldId id="274" r:id="rId18"/>
    <p:sldId id="284" r:id="rId19"/>
    <p:sldId id="285" r:id="rId20"/>
    <p:sldId id="286" r:id="rId21"/>
    <p:sldId id="273" r:id="rId22"/>
    <p:sldId id="272" r:id="rId23"/>
    <p:sldId id="266" r:id="rId24"/>
    <p:sldId id="270" r:id="rId25"/>
    <p:sldId id="271" r:id="rId26"/>
    <p:sldId id="267" r:id="rId27"/>
    <p:sldId id="268"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21" autoAdjust="0"/>
    <p:restoredTop sz="94671" autoAdjust="0"/>
  </p:normalViewPr>
  <p:slideViewPr>
    <p:cSldViewPr>
      <p:cViewPr>
        <p:scale>
          <a:sx n="60" d="100"/>
          <a:sy n="60" d="100"/>
        </p:scale>
        <p:origin x="-1472" y="-16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9144000" cy="2933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p:nvCxnSpPr>
        <p:spPr>
          <a:xfrm>
            <a:off x="0" y="2925286"/>
            <a:ext cx="914400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2514600" y="2362200"/>
            <a:ext cx="4114800" cy="1127760"/>
          </a:xfrm>
          <a:prstGeom prst="rect">
            <a:avLst/>
          </a:prstGeom>
          <a:solidFill>
            <a:schemeClr val="tx1"/>
          </a:solidFill>
          <a:ln w="76200" cmpd="thinThick">
            <a:solidFill>
              <a:schemeClr val="tx1"/>
            </a:solidFill>
            <a:miter lim="800000"/>
          </a:ln>
        </p:spPr>
        <p:txBody>
          <a:bodyPr vert="horz" lIns="91440" tIns="45720" rIns="91440" bIns="45720" rtlCol="0" anchor="ctr" anchorCtr="0">
            <a:normAutofit/>
          </a:bodyPr>
          <a:lstStyle/>
          <a:p>
            <a:pPr algn="ctr" defTabSz="914400" rtl="0" eaLnBrk="1" latinLnBrk="0" hangingPunct="1">
              <a:spcBef>
                <a:spcPts val="400"/>
              </a:spcBef>
              <a:buNone/>
            </a:pPr>
            <a:endParaRPr lang="en-US" sz="1800" b="1" kern="1200" cap="all" spc="0" baseline="0" smtClean="0">
              <a:solidFill>
                <a:schemeClr val="bg1"/>
              </a:solidFill>
              <a:latin typeface="+mj-lt"/>
              <a:ea typeface="+mj-ea"/>
              <a:cs typeface="Tunga" pitchFamily="2"/>
            </a:endParaRPr>
          </a:p>
        </p:txBody>
      </p:sp>
      <p:sp>
        <p:nvSpPr>
          <p:cNvPr id="3" name="Subtitle 2"/>
          <p:cNvSpPr>
            <a:spLocks noGrp="1"/>
          </p:cNvSpPr>
          <p:nvPr>
            <p:ph type="subTitle" idx="1"/>
          </p:nvPr>
        </p:nvSpPr>
        <p:spPr>
          <a:xfrm>
            <a:off x="2565400" y="3045460"/>
            <a:ext cx="4013200" cy="428625"/>
          </a:xfrm>
        </p:spPr>
        <p:txBody>
          <a:bodyPr tIns="0" anchor="t">
            <a:noAutofit/>
          </a:bodyPr>
          <a:lstStyle>
            <a:lvl1pPr marL="0" indent="0" algn="ctr">
              <a:buNone/>
              <a:defRPr sz="1600" b="0" i="0" cap="none" spc="0" baseline="0">
                <a:solidFill>
                  <a:schemeClr val="bg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2" name="Title 11"/>
          <p:cNvSpPr>
            <a:spLocks noGrp="1"/>
          </p:cNvSpPr>
          <p:nvPr>
            <p:ph type="title"/>
          </p:nvPr>
        </p:nvSpPr>
        <p:spPr>
          <a:xfrm>
            <a:off x="2565400" y="2397760"/>
            <a:ext cx="4013200" cy="599440"/>
          </a:xfrm>
          <a:noFill/>
          <a:ln>
            <a:noFill/>
          </a:ln>
        </p:spPr>
        <p:txBody>
          <a:bodyPr bIns="0" anchor="b"/>
          <a:lstStyle>
            <a:lvl1pPr>
              <a:defRPr>
                <a:effectLst>
                  <a:glow rad="88900">
                    <a:schemeClr val="tx1">
                      <a:alpha val="60000"/>
                    </a:schemeClr>
                  </a:glow>
                </a:effectLst>
              </a:defRPr>
            </a:lvl1pPr>
          </a:lstStyle>
          <a:p>
            <a:r>
              <a:rPr lang="en-US" smtClean="0"/>
              <a:t>Click to edit Master title style</a:t>
            </a:r>
            <a:endParaRPr lang="en-US" dirty="0"/>
          </a:p>
        </p:txBody>
      </p:sp>
      <p:sp>
        <p:nvSpPr>
          <p:cNvPr id="11" name="Date Placeholder 10"/>
          <p:cNvSpPr>
            <a:spLocks noGrp="1"/>
          </p:cNvSpPr>
          <p:nvPr>
            <p:ph type="dt" sz="half" idx="10"/>
          </p:nvPr>
        </p:nvSpPr>
        <p:spPr bwMode="black"/>
        <p:txBody>
          <a:bodyPr/>
          <a:lstStyle/>
          <a:p>
            <a:fld id="{20924D83-8D3C-4F72-ADC5-645D4996B606}" type="datetimeFigureOut">
              <a:rPr lang="en-US" smtClean="0"/>
              <a:t>5/18/2023</a:t>
            </a:fld>
            <a:endParaRPr lang="en-US"/>
          </a:p>
        </p:txBody>
      </p:sp>
      <p:sp>
        <p:nvSpPr>
          <p:cNvPr id="17" name="Slide Number Placeholder 16"/>
          <p:cNvSpPr>
            <a:spLocks noGrp="1"/>
          </p:cNvSpPr>
          <p:nvPr>
            <p:ph type="sldNum" sz="quarter" idx="11"/>
          </p:nvPr>
        </p:nvSpPr>
        <p:spPr/>
        <p:txBody>
          <a:bodyPr/>
          <a:lstStyle/>
          <a:p>
            <a:fld id="{7AB55DDC-FAA8-44F8-97DD-9FD0EA8E9BE6}" type="slidenum">
              <a:rPr lang="en-US" smtClean="0"/>
              <a:t>‹#›</a:t>
            </a:fld>
            <a:endParaRPr lang="en-US"/>
          </a:p>
        </p:txBody>
      </p:sp>
      <p:sp>
        <p:nvSpPr>
          <p:cNvPr id="19" name="Footer Placeholder 18"/>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1" name="Content Placeholder 30"/>
          <p:cNvSpPr>
            <a:spLocks noGrp="1"/>
          </p:cNvSpPr>
          <p:nvPr>
            <p:ph sz="quarter" idx="13"/>
          </p:nvPr>
        </p:nvSpPr>
        <p:spPr>
          <a:xfrm>
            <a:off x="457200" y="2020824"/>
            <a:ext cx="8229600" cy="407517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itle 8"/>
          <p:cNvSpPr>
            <a:spLocks noGrp="1"/>
          </p:cNvSpPr>
          <p:nvPr>
            <p:ph type="title"/>
          </p:nvPr>
        </p:nvSpPr>
        <p:spPr/>
        <p:txBody>
          <a:bodyPr/>
          <a:lstStyle/>
          <a:p>
            <a:r>
              <a:rPr lang="en-US" smtClean="0"/>
              <a:t>Click to edit Master title style</a:t>
            </a:r>
            <a:endParaRPr lang="en-US"/>
          </a:p>
        </p:txBody>
      </p:sp>
      <p:sp>
        <p:nvSpPr>
          <p:cNvPr id="11" name="Date Placeholder 10"/>
          <p:cNvSpPr>
            <a:spLocks noGrp="1"/>
          </p:cNvSpPr>
          <p:nvPr>
            <p:ph type="dt" sz="half" idx="14"/>
          </p:nvPr>
        </p:nvSpPr>
        <p:spPr/>
        <p:txBody>
          <a:bodyPr/>
          <a:lstStyle/>
          <a:p>
            <a:fld id="{20924D83-8D3C-4F72-ADC5-645D4996B606}" type="datetimeFigureOut">
              <a:rPr lang="en-US" smtClean="0"/>
              <a:t>5/18/2023</a:t>
            </a:fld>
            <a:endParaRPr lang="en-US"/>
          </a:p>
        </p:txBody>
      </p:sp>
      <p:sp>
        <p:nvSpPr>
          <p:cNvPr id="12" name="Slide Number Placeholder 11"/>
          <p:cNvSpPr>
            <a:spLocks noGrp="1"/>
          </p:cNvSpPr>
          <p:nvPr>
            <p:ph type="sldNum" sz="quarter" idx="15"/>
          </p:nvPr>
        </p:nvSpPr>
        <p:spPr/>
        <p:txBody>
          <a:bodyPr/>
          <a:lstStyle/>
          <a:p>
            <a:fld id="{7AB55DDC-FAA8-44F8-97DD-9FD0EA8E9BE6}" type="slidenum">
              <a:rPr lang="en-US" smtClean="0"/>
              <a:t>‹#›</a:t>
            </a:fld>
            <a:endParaRPr lang="en-US"/>
          </a:p>
        </p:txBody>
      </p:sp>
      <p:sp>
        <p:nvSpPr>
          <p:cNvPr id="13" name="Footer Placeholder 12"/>
          <p:cNvSpPr>
            <a:spLocks noGrp="1"/>
          </p:cNvSpPr>
          <p:nvPr>
            <p:ph type="ftr" sz="quarter" idx="16"/>
          </p:nvPr>
        </p:nvSpPr>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1"/>
      </p:bgRef>
    </p:bg>
    <p:spTree>
      <p:nvGrpSpPr>
        <p:cNvPr id="1" name=""/>
        <p:cNvGrpSpPr/>
        <p:nvPr/>
      </p:nvGrpSpPr>
      <p:grpSpPr>
        <a:xfrm>
          <a:off x="0" y="0"/>
          <a:ext cx="0" cy="0"/>
          <a:chOff x="0" y="0"/>
          <a:chExt cx="0" cy="0"/>
        </a:xfrm>
      </p:grpSpPr>
      <p:sp>
        <p:nvSpPr>
          <p:cNvPr id="8" name="Rectangle 7"/>
          <p:cNvSpPr/>
          <p:nvPr/>
        </p:nvSpPr>
        <p:spPr>
          <a:xfrm>
            <a:off x="0" y="3922776"/>
            <a:ext cx="9144000" cy="29352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0" y="3921760"/>
            <a:ext cx="9144000" cy="1588"/>
          </a:xfrm>
          <a:prstGeom prst="line">
            <a:avLst/>
          </a:prstGeom>
          <a:ln w="127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2514600" y="3368040"/>
            <a:ext cx="4114800" cy="1127760"/>
          </a:xfrm>
          <a:prstGeom prst="rect">
            <a:avLst/>
          </a:prstGeom>
          <a:solidFill>
            <a:schemeClr val="tx1"/>
          </a:solidFill>
          <a:ln w="76200" cmpd="thinThick">
            <a:solidFill>
              <a:schemeClr val="tx1"/>
            </a:solidFill>
            <a:miter lim="800000"/>
          </a:ln>
        </p:spPr>
        <p:txBody>
          <a:bodyPr vert="horz" lIns="91440" tIns="45720" rIns="91440" bIns="45720" rtlCol="0" anchor="ctr" anchorCtr="0">
            <a:normAutofit/>
          </a:bodyPr>
          <a:lstStyle/>
          <a:p>
            <a:pPr algn="ctr" defTabSz="914400" rtl="0" eaLnBrk="1" latinLnBrk="0" hangingPunct="1">
              <a:spcBef>
                <a:spcPts val="400"/>
              </a:spcBef>
              <a:buNone/>
            </a:pPr>
            <a:endParaRPr lang="en-US" sz="1800" b="1" kern="1200" cap="all" spc="0" baseline="0" smtClean="0">
              <a:solidFill>
                <a:schemeClr val="bg1"/>
              </a:solidFill>
              <a:latin typeface="+mj-lt"/>
              <a:ea typeface="+mj-ea"/>
              <a:cs typeface="Tunga" pitchFamily="2"/>
            </a:endParaRPr>
          </a:p>
        </p:txBody>
      </p:sp>
      <p:sp>
        <p:nvSpPr>
          <p:cNvPr id="9" name="Title Placeholder 1"/>
          <p:cNvSpPr>
            <a:spLocks noGrp="1"/>
          </p:cNvSpPr>
          <p:nvPr>
            <p:ph type="title"/>
          </p:nvPr>
        </p:nvSpPr>
        <p:spPr bwMode="black">
          <a:xfrm>
            <a:off x="2529052" y="3367246"/>
            <a:ext cx="4085897" cy="706821"/>
          </a:xfrm>
          <a:prstGeom prst="rect">
            <a:avLst/>
          </a:prstGeom>
          <a:noFill/>
          <a:ln w="98425" cmpd="thinThick">
            <a:noFill/>
            <a:miter lim="800000"/>
          </a:ln>
        </p:spPr>
        <p:txBody>
          <a:bodyPr vert="horz" lIns="91440" tIns="45720" rIns="91440" bIns="0" rtlCol="0" anchor="b" anchorCtr="0">
            <a:normAutofit/>
          </a:bodyPr>
          <a:lstStyle>
            <a:lvl1pPr>
              <a:defRPr kumimoji="0" lang="en-US" sz="1800" b="1" i="0" u="none" strike="noStrike" kern="1200" cap="all" spc="0" normalizeH="0" baseline="0" noProof="0" dirty="0" smtClean="0">
                <a:ln>
                  <a:noFill/>
                </a:ln>
                <a:solidFill>
                  <a:schemeClr val="bg1"/>
                </a:solidFill>
                <a:effectLst/>
                <a:uLnTx/>
                <a:uFillTx/>
                <a:latin typeface="+mj-lt"/>
                <a:ea typeface="+mj-ea"/>
                <a:cs typeface="Tunga" pitchFamily="2"/>
              </a:defRPr>
            </a:lvl1pPr>
          </a:lstStyle>
          <a:p>
            <a:r>
              <a:rPr lang="en-US" smtClean="0"/>
              <a:t>Click to edit Master title style</a:t>
            </a:r>
            <a:endParaRPr lang="en-US" dirty="0"/>
          </a:p>
        </p:txBody>
      </p:sp>
      <p:sp>
        <p:nvSpPr>
          <p:cNvPr id="10" name="Subtitle 2"/>
          <p:cNvSpPr>
            <a:spLocks noGrp="1"/>
          </p:cNvSpPr>
          <p:nvPr>
            <p:ph type="subTitle" idx="1"/>
          </p:nvPr>
        </p:nvSpPr>
        <p:spPr bwMode="black">
          <a:xfrm>
            <a:off x="2518542" y="4084577"/>
            <a:ext cx="4106917" cy="397094"/>
          </a:xfrm>
        </p:spPr>
        <p:txBody>
          <a:bodyPr tIns="0" anchor="t" anchorCtr="0">
            <a:normAutofit/>
          </a:bodyPr>
          <a:lstStyle>
            <a:lvl1pPr marL="0" indent="0" algn="ctr">
              <a:buNone/>
              <a:defRPr kumimoji="0" lang="en-US" sz="1600" b="0" i="0" u="none" strike="noStrike" kern="1200" cap="none" spc="0" normalizeH="0" baseline="0" noProof="0" dirty="0">
                <a:ln>
                  <a:noFill/>
                </a:ln>
                <a:solidFill>
                  <a:schemeClr val="bg1"/>
                </a:solidFill>
                <a:effectLst/>
                <a:uLnTx/>
                <a:uFillTx/>
                <a:latin typeface="+mn-lt"/>
                <a:ea typeface="+mn-ea"/>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3" name="Date Placeholder 12"/>
          <p:cNvSpPr>
            <a:spLocks noGrp="1"/>
          </p:cNvSpPr>
          <p:nvPr>
            <p:ph type="dt" sz="half" idx="10"/>
          </p:nvPr>
        </p:nvSpPr>
        <p:spPr/>
        <p:txBody>
          <a:bodyPr/>
          <a:lstStyle/>
          <a:p>
            <a:fld id="{20924D83-8D3C-4F72-ADC5-645D4996B606}" type="datetimeFigureOut">
              <a:rPr lang="en-US" smtClean="0"/>
              <a:t>5/18/2023</a:t>
            </a:fld>
            <a:endParaRPr lang="en-US"/>
          </a:p>
        </p:txBody>
      </p:sp>
      <p:sp>
        <p:nvSpPr>
          <p:cNvPr id="14" name="Slide Number Placeholder 13"/>
          <p:cNvSpPr>
            <a:spLocks noGrp="1"/>
          </p:cNvSpPr>
          <p:nvPr>
            <p:ph type="sldNum" sz="quarter" idx="11"/>
          </p:nvPr>
        </p:nvSpPr>
        <p:spPr/>
        <p:txBody>
          <a:bodyPr/>
          <a:lstStyle/>
          <a:p>
            <a:fld id="{7AB55DDC-FAA8-44F8-97DD-9FD0EA8E9BE6}" type="slidenum">
              <a:rPr lang="en-US" smtClean="0"/>
              <a:t>‹#›</a:t>
            </a:fld>
            <a:endParaRPr lang="en-US"/>
          </a:p>
        </p:txBody>
      </p:sp>
      <p:sp>
        <p:nvSpPr>
          <p:cNvPr id="15" name="Footer Placeholder 14"/>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Content Placeholder 30"/>
          <p:cNvSpPr>
            <a:spLocks noGrp="1"/>
          </p:cNvSpPr>
          <p:nvPr>
            <p:ph sz="quarter" idx="13"/>
          </p:nvPr>
        </p:nvSpPr>
        <p:spPr>
          <a:xfrm>
            <a:off x="457201" y="2020824"/>
            <a:ext cx="4023360" cy="40050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Content Placeholder 30"/>
          <p:cNvSpPr>
            <a:spLocks noGrp="1"/>
          </p:cNvSpPr>
          <p:nvPr>
            <p:ph sz="quarter" idx="14"/>
          </p:nvPr>
        </p:nvSpPr>
        <p:spPr>
          <a:xfrm>
            <a:off x="4663440" y="2020824"/>
            <a:ext cx="4023360" cy="40050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Date Placeholder 8"/>
          <p:cNvSpPr>
            <a:spLocks noGrp="1"/>
          </p:cNvSpPr>
          <p:nvPr>
            <p:ph type="dt" sz="half" idx="15"/>
          </p:nvPr>
        </p:nvSpPr>
        <p:spPr/>
        <p:txBody>
          <a:bodyPr/>
          <a:lstStyle/>
          <a:p>
            <a:fld id="{20924D83-8D3C-4F72-ADC5-645D4996B606}" type="datetimeFigureOut">
              <a:rPr lang="en-US" smtClean="0"/>
              <a:t>5/18/2023</a:t>
            </a:fld>
            <a:endParaRPr lang="en-US"/>
          </a:p>
        </p:txBody>
      </p:sp>
      <p:sp>
        <p:nvSpPr>
          <p:cNvPr id="12" name="Slide Number Placeholder 11"/>
          <p:cNvSpPr>
            <a:spLocks noGrp="1"/>
          </p:cNvSpPr>
          <p:nvPr>
            <p:ph type="sldNum" sz="quarter" idx="16"/>
          </p:nvPr>
        </p:nvSpPr>
        <p:spPr/>
        <p:txBody>
          <a:bodyPr/>
          <a:lstStyle/>
          <a:p>
            <a:fld id="{7AB55DDC-FAA8-44F8-97DD-9FD0EA8E9BE6}" type="slidenum">
              <a:rPr lang="en-US" smtClean="0"/>
              <a:t>‹#›</a:t>
            </a:fld>
            <a:endParaRPr lang="en-US"/>
          </a:p>
        </p:txBody>
      </p:sp>
      <p:sp>
        <p:nvSpPr>
          <p:cNvPr id="13" name="Footer Placeholder 12"/>
          <p:cNvSpPr>
            <a:spLocks noGrp="1"/>
          </p:cNvSpPr>
          <p:nvPr>
            <p:ph type="ftr" sz="quarter" idx="17"/>
          </p:nvPr>
        </p:nvSpPr>
        <p:spPr/>
        <p:txBody>
          <a:bodyPr/>
          <a:lstStyle/>
          <a:p>
            <a:endParaRPr lang="en-US"/>
          </a:p>
        </p:txBody>
      </p:sp>
      <p:sp>
        <p:nvSpPr>
          <p:cNvPr id="16" name="Title 15"/>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3" name="Content Placeholder 30"/>
          <p:cNvSpPr>
            <a:spLocks noGrp="1"/>
          </p:cNvSpPr>
          <p:nvPr>
            <p:ph sz="quarter" idx="13"/>
          </p:nvPr>
        </p:nvSpPr>
        <p:spPr>
          <a:xfrm>
            <a:off x="457201" y="2819400"/>
            <a:ext cx="4023360" cy="320954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4" name="Content Placeholder 30"/>
          <p:cNvSpPr>
            <a:spLocks noGrp="1"/>
          </p:cNvSpPr>
          <p:nvPr>
            <p:ph sz="quarter" idx="14"/>
          </p:nvPr>
        </p:nvSpPr>
        <p:spPr>
          <a:xfrm>
            <a:off x="4663440" y="2816352"/>
            <a:ext cx="4023360" cy="320954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0" name="Text Placeholder 3"/>
          <p:cNvSpPr>
            <a:spLocks noGrp="1"/>
          </p:cNvSpPr>
          <p:nvPr>
            <p:ph type="body" sz="half" idx="2"/>
          </p:nvPr>
        </p:nvSpPr>
        <p:spPr>
          <a:xfrm>
            <a:off x="457200" y="2020824"/>
            <a:ext cx="4023360" cy="704088"/>
          </a:xfrm>
          <a:noFill/>
          <a:ln w="98425" cmpd="thinThick">
            <a:noFill/>
            <a:miter lim="800000"/>
          </a:ln>
        </p:spPr>
        <p:txBody>
          <a:bodyPr vert="horz" lIns="91440" tIns="45720" rIns="91440" bIns="45720" rtlCol="0" anchor="ctr" anchorCtr="0">
            <a:normAutofit/>
          </a:bodyPr>
          <a:lstStyle>
            <a:lvl1pPr marL="0" indent="0" algn="ctr" defTabSz="914400" rtl="0" eaLnBrk="1" latinLnBrk="0" hangingPunct="1">
              <a:spcBef>
                <a:spcPts val="400"/>
              </a:spcBef>
              <a:buNone/>
              <a:defRPr lang="en-US" sz="1800" b="1" kern="1200" cap="none" spc="200" baseline="0" smtClean="0">
                <a:solidFill>
                  <a:schemeClr val="tx1"/>
                </a:solidFill>
                <a:latin typeface="+mj-lt"/>
                <a:ea typeface="+mj-ea"/>
                <a:cs typeface="Tunga" pitchFamily="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1" name="Text Placeholder 3"/>
          <p:cNvSpPr>
            <a:spLocks noGrp="1"/>
          </p:cNvSpPr>
          <p:nvPr>
            <p:ph type="body" sz="half" idx="15"/>
          </p:nvPr>
        </p:nvSpPr>
        <p:spPr>
          <a:xfrm>
            <a:off x="4663440" y="2020824"/>
            <a:ext cx="4023360" cy="704088"/>
          </a:xfrm>
          <a:noFill/>
          <a:ln w="98425" cmpd="thinThick">
            <a:noFill/>
            <a:miter lim="800000"/>
          </a:ln>
        </p:spPr>
        <p:txBody>
          <a:bodyPr vert="horz" lIns="91440" tIns="45720" rIns="91440" bIns="45720" rtlCol="0" anchor="ctr" anchorCtr="0">
            <a:normAutofit/>
          </a:bodyPr>
          <a:lstStyle>
            <a:lvl1pPr marL="0" indent="0" algn="ctr" defTabSz="914400" rtl="0" eaLnBrk="1" latinLnBrk="0" hangingPunct="1">
              <a:spcBef>
                <a:spcPts val="400"/>
              </a:spcBef>
              <a:buNone/>
              <a:defRPr lang="en-US" sz="1800" b="1" i="0" kern="1200" cap="none" spc="200" baseline="0" dirty="0" smtClean="0">
                <a:solidFill>
                  <a:schemeClr val="tx1"/>
                </a:solidFill>
                <a:latin typeface="+mj-lt"/>
                <a:ea typeface="+mj-ea"/>
                <a:cs typeface="Tunga" pitchFamily="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lnSpc>
                <a:spcPct val="110000"/>
              </a:lnSpc>
              <a:spcBef>
                <a:spcPts val="400"/>
              </a:spcBef>
              <a:spcAft>
                <a:spcPts val="0"/>
              </a:spcAft>
              <a:buClr>
                <a:schemeClr val="accent1"/>
              </a:buClr>
              <a:buFontTx/>
              <a:buNone/>
            </a:pPr>
            <a:r>
              <a:rPr lang="en-US" smtClean="0"/>
              <a:t>Click to edit Master text styles</a:t>
            </a:r>
          </a:p>
        </p:txBody>
      </p:sp>
      <p:sp>
        <p:nvSpPr>
          <p:cNvPr id="11" name="Date Placeholder 10"/>
          <p:cNvSpPr>
            <a:spLocks noGrp="1"/>
          </p:cNvSpPr>
          <p:nvPr>
            <p:ph type="dt" sz="half" idx="16"/>
          </p:nvPr>
        </p:nvSpPr>
        <p:spPr/>
        <p:txBody>
          <a:bodyPr/>
          <a:lstStyle/>
          <a:p>
            <a:fld id="{20924D83-8D3C-4F72-ADC5-645D4996B606}" type="datetimeFigureOut">
              <a:rPr lang="en-US" smtClean="0"/>
              <a:t>5/18/2023</a:t>
            </a:fld>
            <a:endParaRPr lang="en-US"/>
          </a:p>
        </p:txBody>
      </p:sp>
      <p:sp>
        <p:nvSpPr>
          <p:cNvPr id="12" name="Slide Number Placeholder 11"/>
          <p:cNvSpPr>
            <a:spLocks noGrp="1"/>
          </p:cNvSpPr>
          <p:nvPr>
            <p:ph type="sldNum" sz="quarter" idx="17"/>
          </p:nvPr>
        </p:nvSpPr>
        <p:spPr/>
        <p:txBody>
          <a:bodyPr/>
          <a:lstStyle/>
          <a:p>
            <a:fld id="{7AB55DDC-FAA8-44F8-97DD-9FD0EA8E9BE6}" type="slidenum">
              <a:rPr lang="en-US" smtClean="0"/>
              <a:t>‹#›</a:t>
            </a:fld>
            <a:endParaRPr lang="en-US"/>
          </a:p>
        </p:txBody>
      </p:sp>
      <p:sp>
        <p:nvSpPr>
          <p:cNvPr id="13" name="Footer Placeholder 12"/>
          <p:cNvSpPr>
            <a:spLocks noGrp="1"/>
          </p:cNvSpPr>
          <p:nvPr>
            <p:ph type="ftr" sz="quarter" idx="18"/>
          </p:nvPr>
        </p:nvSpPr>
        <p:spPr/>
        <p:txBody>
          <a:bodyPr/>
          <a:lstStyle/>
          <a:p>
            <a:endParaRPr lang="en-US"/>
          </a:p>
        </p:txBody>
      </p:sp>
      <p:sp>
        <p:nvSpPr>
          <p:cNvPr id="18" name="Title 1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smtClean="0"/>
              <a:t>Click to edit Master title style</a:t>
            </a:r>
            <a:endParaRPr lang="en-US"/>
          </a:p>
        </p:txBody>
      </p:sp>
      <p:sp>
        <p:nvSpPr>
          <p:cNvPr id="15" name="Date Placeholder 14"/>
          <p:cNvSpPr>
            <a:spLocks noGrp="1"/>
          </p:cNvSpPr>
          <p:nvPr>
            <p:ph type="dt" sz="half" idx="10"/>
          </p:nvPr>
        </p:nvSpPr>
        <p:spPr/>
        <p:txBody>
          <a:bodyPr/>
          <a:lstStyle/>
          <a:p>
            <a:fld id="{20924D83-8D3C-4F72-ADC5-645D4996B606}" type="datetimeFigureOut">
              <a:rPr lang="en-US" smtClean="0"/>
              <a:t>5/18/2023</a:t>
            </a:fld>
            <a:endParaRPr lang="en-US"/>
          </a:p>
        </p:txBody>
      </p:sp>
      <p:sp>
        <p:nvSpPr>
          <p:cNvPr id="16" name="Slide Number Placeholder 15"/>
          <p:cNvSpPr>
            <a:spLocks noGrp="1"/>
          </p:cNvSpPr>
          <p:nvPr>
            <p:ph type="sldNum" sz="quarter" idx="11"/>
          </p:nvPr>
        </p:nvSpPr>
        <p:spPr/>
        <p:txBody>
          <a:bodyPr/>
          <a:lstStyle/>
          <a:p>
            <a:fld id="{7AB55DDC-FAA8-44F8-97DD-9FD0EA8E9BE6}" type="slidenum">
              <a:rPr lang="en-US" smtClean="0"/>
              <a:t>‹#›</a:t>
            </a:fld>
            <a:endParaRPr lang="en-US"/>
          </a:p>
        </p:txBody>
      </p:sp>
      <p:sp>
        <p:nvSpPr>
          <p:cNvPr id="17" name="Footer Placeholder 16"/>
          <p:cNvSpPr>
            <a:spLocks noGrp="1"/>
          </p:cNvSpPr>
          <p:nvPr>
            <p:ph type="ftr" sz="quarter" idx="12"/>
          </p:nvPr>
        </p:nvSpPr>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20924D83-8D3C-4F72-ADC5-645D4996B606}" type="datetimeFigureOut">
              <a:rPr lang="en-US" smtClean="0"/>
              <a:t>5/18/2023</a:t>
            </a:fld>
            <a:endParaRPr lang="en-US"/>
          </a:p>
        </p:txBody>
      </p:sp>
      <p:sp>
        <p:nvSpPr>
          <p:cNvPr id="8" name="Slide Number Placeholder 7"/>
          <p:cNvSpPr>
            <a:spLocks noGrp="1"/>
          </p:cNvSpPr>
          <p:nvPr>
            <p:ph type="sldNum" sz="quarter" idx="11"/>
          </p:nvPr>
        </p:nvSpPr>
        <p:spPr/>
        <p:txBody>
          <a:bodyPr/>
          <a:lstStyle/>
          <a:p>
            <a:fld id="{7AB55DDC-FAA8-44F8-97DD-9FD0EA8E9BE6}"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4" name="Content Placeholder 30"/>
          <p:cNvSpPr>
            <a:spLocks noGrp="1"/>
          </p:cNvSpPr>
          <p:nvPr>
            <p:ph sz="quarter" idx="14"/>
          </p:nvPr>
        </p:nvSpPr>
        <p:spPr>
          <a:xfrm>
            <a:off x="1485900" y="1914525"/>
            <a:ext cx="6172200" cy="351091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Text Placeholder 3"/>
          <p:cNvSpPr>
            <a:spLocks noGrp="1"/>
          </p:cNvSpPr>
          <p:nvPr>
            <p:ph type="body" sz="half" idx="2"/>
          </p:nvPr>
        </p:nvSpPr>
        <p:spPr>
          <a:xfrm>
            <a:off x="1737360" y="5513832"/>
            <a:ext cx="5669280" cy="548640"/>
          </a:xfrm>
        </p:spPr>
        <p:txBody>
          <a:bodyPr vert="horz" lIns="91440" tIns="0" rIns="91440" bIns="45720" rtlCol="0" anchor="ctr">
            <a:normAutofit/>
          </a:bodyPr>
          <a:lstStyle>
            <a:lvl1pPr marL="0" indent="0" algn="ctr" defTabSz="914400" rtl="0" eaLnBrk="1" latinLnBrk="0" hangingPunct="1">
              <a:lnSpc>
                <a:spcPct val="100000"/>
              </a:lnSpc>
              <a:spcBef>
                <a:spcPts val="0"/>
              </a:spcBef>
              <a:buClr>
                <a:schemeClr val="accent1"/>
              </a:buClr>
              <a:buFont typeface="Arial" pitchFamily="34" charset="0"/>
              <a:buNone/>
              <a:defRPr lang="en-US" sz="1400" b="0" i="0" kern="1200" cap="none" spc="0" baseline="0" smtClean="0">
                <a:solidFill>
                  <a:schemeClr val="tx1"/>
                </a:solidFill>
                <a:latin typeface="+mn-lt"/>
                <a:ea typeface="+mn-ea"/>
                <a:cs typeface="Tahoma"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3" name="Title 12"/>
          <p:cNvSpPr>
            <a:spLocks noGrp="1"/>
          </p:cNvSpPr>
          <p:nvPr>
            <p:ph type="title"/>
          </p:nvPr>
        </p:nvSpPr>
        <p:spPr/>
        <p:txBody>
          <a:bodyPr/>
          <a:lstStyle/>
          <a:p>
            <a:r>
              <a:rPr lang="en-US" smtClean="0"/>
              <a:t>Click to edit Master title style</a:t>
            </a:r>
            <a:endParaRPr lang="en-US"/>
          </a:p>
        </p:txBody>
      </p:sp>
      <p:sp>
        <p:nvSpPr>
          <p:cNvPr id="16" name="Date Placeholder 15"/>
          <p:cNvSpPr>
            <a:spLocks noGrp="1"/>
          </p:cNvSpPr>
          <p:nvPr>
            <p:ph type="dt" sz="half" idx="15"/>
          </p:nvPr>
        </p:nvSpPr>
        <p:spPr/>
        <p:txBody>
          <a:bodyPr/>
          <a:lstStyle/>
          <a:p>
            <a:fld id="{20924D83-8D3C-4F72-ADC5-645D4996B606}" type="datetimeFigureOut">
              <a:rPr lang="en-US" smtClean="0"/>
              <a:t>5/18/2023</a:t>
            </a:fld>
            <a:endParaRPr lang="en-US"/>
          </a:p>
        </p:txBody>
      </p:sp>
      <p:sp>
        <p:nvSpPr>
          <p:cNvPr id="19" name="Slide Number Placeholder 18"/>
          <p:cNvSpPr>
            <a:spLocks noGrp="1"/>
          </p:cNvSpPr>
          <p:nvPr>
            <p:ph type="sldNum" sz="quarter" idx="16"/>
          </p:nvPr>
        </p:nvSpPr>
        <p:spPr/>
        <p:txBody>
          <a:bodyPr/>
          <a:lstStyle/>
          <a:p>
            <a:fld id="{7AB55DDC-FAA8-44F8-97DD-9FD0EA8E9BE6}" type="slidenum">
              <a:rPr lang="en-US" smtClean="0"/>
              <a:t>‹#›</a:t>
            </a:fld>
            <a:endParaRPr lang="en-US"/>
          </a:p>
        </p:txBody>
      </p:sp>
      <p:sp>
        <p:nvSpPr>
          <p:cNvPr id="23" name="Footer Placeholder 22"/>
          <p:cNvSpPr>
            <a:spLocks noGrp="1"/>
          </p:cNvSpPr>
          <p:nvPr>
            <p:ph type="ftr" sz="quarter" idx="17"/>
          </p:nvPr>
        </p:nvSpPr>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1852209" y="2026918"/>
            <a:ext cx="5439582" cy="3263750"/>
          </a:xfrm>
          <a:solidFill>
            <a:schemeClr val="tx1"/>
          </a:solidFill>
          <a:ln w="69850" cmpd="dbl">
            <a:solidFill>
              <a:schemeClr val="tx1"/>
            </a:solidFill>
            <a:miter lim="800000"/>
          </a:ln>
        </p:spPr>
        <p:txBody>
          <a:bodyPr vert="horz" lIns="91440" tIns="45720" rIns="91440" bIns="45720" rtlCol="0" anchor="ctr" anchorCtr="0">
            <a:normAutofit/>
          </a:bodyPr>
          <a:lstStyle>
            <a:lvl1pPr marL="0" indent="0" algn="ctr" defTabSz="914400" rtl="0" eaLnBrk="1" latinLnBrk="0" hangingPunct="1">
              <a:spcBef>
                <a:spcPts val="400"/>
              </a:spcBef>
              <a:buNone/>
              <a:defRPr lang="en-US" sz="1800" b="0" kern="1200" cap="none" spc="0" baseline="0" dirty="0">
                <a:solidFill>
                  <a:schemeClr val="bg1"/>
                </a:solidFill>
                <a:latin typeface="+mj-lt"/>
                <a:ea typeface="+mj-ea"/>
                <a:cs typeface="Tunga" pitchFamily="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25" name="Text Placeholder 24"/>
          <p:cNvSpPr>
            <a:spLocks noGrp="1"/>
          </p:cNvSpPr>
          <p:nvPr>
            <p:ph type="body" sz="quarter" idx="13"/>
          </p:nvPr>
        </p:nvSpPr>
        <p:spPr>
          <a:xfrm>
            <a:off x="1737360" y="5516880"/>
            <a:ext cx="5669280" cy="548640"/>
          </a:xfrm>
        </p:spPr>
        <p:txBody>
          <a:bodyPr vert="horz" lIns="91440" tIns="0" rIns="91440" bIns="0" rtlCol="0" anchor="ctr" anchorCtr="0">
            <a:normAutofit/>
          </a:bodyPr>
          <a:lstStyle>
            <a:lvl1pPr marL="0" indent="0">
              <a:spcBef>
                <a:spcPts val="0"/>
              </a:spcBef>
              <a:buNone/>
              <a:defRPr lang="en-US" sz="1400" b="0" i="0" kern="1200" cap="none" spc="30" baseline="0" smtClean="0">
                <a:solidFill>
                  <a:schemeClr val="tx2"/>
                </a:solidFill>
                <a:latin typeface="+mn-lt"/>
                <a:ea typeface="+mn-ea"/>
                <a:cs typeface="Tahoma" pitchFamily="34" charset="0"/>
              </a:defRPr>
            </a:lvl1pPr>
            <a:lvl2pPr marL="171450" indent="1588">
              <a:buNone/>
              <a:defRPr>
                <a:solidFill>
                  <a:schemeClr val="bg2"/>
                </a:solidFill>
              </a:defRPr>
            </a:lvl2pPr>
            <a:lvl3pPr marL="344488" indent="6350">
              <a:buNone/>
              <a:defRPr>
                <a:solidFill>
                  <a:schemeClr val="bg2"/>
                </a:solidFill>
              </a:defRPr>
            </a:lvl3pPr>
            <a:lvl4pPr marL="515938" indent="3175">
              <a:buNone/>
              <a:defRPr>
                <a:solidFill>
                  <a:schemeClr val="bg2"/>
                </a:solidFill>
              </a:defRPr>
            </a:lvl4pPr>
            <a:lvl5pPr marL="688975" indent="-1588">
              <a:buNone/>
              <a:defRPr>
                <a:solidFill>
                  <a:schemeClr val="bg2"/>
                </a:solidFill>
              </a:defRPr>
            </a:lvl5pPr>
          </a:lstStyle>
          <a:p>
            <a:pPr marL="0" lvl="0" indent="0" algn="ctr" defTabSz="914400" rtl="0" eaLnBrk="1" latinLnBrk="0" hangingPunct="1">
              <a:spcBef>
                <a:spcPts val="600"/>
              </a:spcBef>
              <a:spcAft>
                <a:spcPts val="0"/>
              </a:spcAft>
              <a:buClr>
                <a:schemeClr val="accent1"/>
              </a:buClr>
              <a:buFont typeface="Arial" pitchFamily="34" charset="0"/>
              <a:buNone/>
            </a:pPr>
            <a:r>
              <a:rPr lang="en-US" smtClean="0"/>
              <a:t>Click to edit Master text styles</a:t>
            </a:r>
          </a:p>
        </p:txBody>
      </p:sp>
      <p:sp>
        <p:nvSpPr>
          <p:cNvPr id="12" name="Title 11"/>
          <p:cNvSpPr>
            <a:spLocks noGrp="1"/>
          </p:cNvSpPr>
          <p:nvPr>
            <p:ph type="title"/>
          </p:nvPr>
        </p:nvSpPr>
        <p:spPr>
          <a:xfrm>
            <a:off x="2514600" y="975360"/>
            <a:ext cx="4114800" cy="701040"/>
          </a:xfrm>
        </p:spPr>
        <p:txBody>
          <a:bodyPr/>
          <a:lstStyle/>
          <a:p>
            <a:r>
              <a:rPr lang="en-US" smtClean="0"/>
              <a:t>Click to edit Master title style</a:t>
            </a:r>
            <a:endParaRPr lang="en-US"/>
          </a:p>
        </p:txBody>
      </p:sp>
      <p:sp>
        <p:nvSpPr>
          <p:cNvPr id="13" name="Date Placeholder 12"/>
          <p:cNvSpPr>
            <a:spLocks noGrp="1"/>
          </p:cNvSpPr>
          <p:nvPr>
            <p:ph type="dt" sz="half" idx="14"/>
          </p:nvPr>
        </p:nvSpPr>
        <p:spPr>
          <a:xfrm>
            <a:off x="2981325" y="273180"/>
            <a:ext cx="3181350" cy="292100"/>
          </a:xfrm>
        </p:spPr>
        <p:txBody>
          <a:bodyPr/>
          <a:lstStyle/>
          <a:p>
            <a:fld id="{20924D83-8D3C-4F72-ADC5-645D4996B606}" type="datetimeFigureOut">
              <a:rPr lang="en-US" smtClean="0"/>
              <a:t>5/18/2023</a:t>
            </a:fld>
            <a:endParaRPr lang="en-US"/>
          </a:p>
        </p:txBody>
      </p:sp>
      <p:sp>
        <p:nvSpPr>
          <p:cNvPr id="14" name="Slide Number Placeholder 13"/>
          <p:cNvSpPr>
            <a:spLocks noGrp="1"/>
          </p:cNvSpPr>
          <p:nvPr>
            <p:ph type="sldNum" sz="quarter" idx="15"/>
          </p:nvPr>
        </p:nvSpPr>
        <p:spPr>
          <a:xfrm>
            <a:off x="4038600" y="6172200"/>
            <a:ext cx="1066800" cy="304800"/>
          </a:xfrm>
        </p:spPr>
        <p:txBody>
          <a:bodyPr/>
          <a:lstStyle/>
          <a:p>
            <a:fld id="{7AB55DDC-FAA8-44F8-97DD-9FD0EA8E9BE6}" type="slidenum">
              <a:rPr lang="en-US" smtClean="0"/>
              <a:t>‹#›</a:t>
            </a:fld>
            <a:endParaRPr lang="en-US"/>
          </a:p>
        </p:txBody>
      </p:sp>
      <p:sp>
        <p:nvSpPr>
          <p:cNvPr id="15" name="Footer Placeholder 14"/>
          <p:cNvSpPr>
            <a:spLocks noGrp="1"/>
          </p:cNvSpPr>
          <p:nvPr>
            <p:ph type="ftr" sz="quarter" idx="16"/>
          </p:nvPr>
        </p:nvSpPr>
        <p:spPr>
          <a:xfrm>
            <a:off x="1447800" y="6486525"/>
            <a:ext cx="6248400" cy="29210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924D83-8D3C-4F72-ADC5-645D4996B606}" type="datetimeFigureOut">
              <a:rPr lang="en-US" smtClean="0"/>
              <a:t>5/18/2023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B55DDC-FAA8-44F8-97DD-9FD0EA8E9BE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cxnSp>
        <p:nvCxnSpPr>
          <p:cNvPr id="9" name="Straight Connector 8"/>
          <p:cNvCxnSpPr/>
          <p:nvPr/>
        </p:nvCxnSpPr>
        <p:spPr>
          <a:xfrm rot="5400000">
            <a:off x="4267200" y="3429000"/>
            <a:ext cx="6858000" cy="1588"/>
          </a:xfrm>
          <a:prstGeom prst="line">
            <a:avLst/>
          </a:prstGeom>
          <a:ln w="127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bwMode="hidden">
          <a:xfrm>
            <a:off x="0" y="1"/>
            <a:ext cx="7696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Vertical Text Placeholder 2"/>
          <p:cNvSpPr>
            <a:spLocks noGrp="1"/>
          </p:cNvSpPr>
          <p:nvPr>
            <p:ph type="body" orient="vert" idx="1"/>
          </p:nvPr>
        </p:nvSpPr>
        <p:spPr>
          <a:xfrm>
            <a:off x="457200" y="914401"/>
            <a:ext cx="6629400" cy="5029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924D83-8D3C-4F72-ADC5-645D4996B606}" type="datetimeFigureOut">
              <a:rPr lang="en-US" smtClean="0"/>
              <a:t>5/18/2023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B55DDC-FAA8-44F8-97DD-9FD0EA8E9BE6}" type="slidenum">
              <a:rPr lang="en-US" smtClean="0"/>
              <a:t>‹#›</a:t>
            </a:fld>
            <a:endParaRPr lang="en-US"/>
          </a:p>
        </p:txBody>
      </p:sp>
      <p:sp>
        <p:nvSpPr>
          <p:cNvPr id="2" name="Vertical Title 1"/>
          <p:cNvSpPr>
            <a:spLocks noGrp="1"/>
          </p:cNvSpPr>
          <p:nvPr>
            <p:ph type="title" orient="vert"/>
          </p:nvPr>
        </p:nvSpPr>
        <p:spPr>
          <a:xfrm>
            <a:off x="7239000" y="914401"/>
            <a:ext cx="926980" cy="5029200"/>
          </a:xfrm>
        </p:spPr>
        <p:txBody>
          <a:bodyPr vert="eaVert"/>
          <a:lstStyle/>
          <a:p>
            <a:r>
              <a:rPr lang="en-US" smtClean="0"/>
              <a:t>Click to edit Master title style</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8" name="Rectangle 7"/>
          <p:cNvSpPr/>
          <p:nvPr/>
        </p:nvSpPr>
        <p:spPr bwMode="hidden">
          <a:xfrm>
            <a:off x="0" y="1335973"/>
            <a:ext cx="9144000" cy="55220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457200" y="2019301"/>
            <a:ext cx="8229600" cy="411734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981325" y="273180"/>
            <a:ext cx="3181350" cy="292100"/>
          </a:xfrm>
          <a:prstGeom prst="rect">
            <a:avLst/>
          </a:prstGeom>
        </p:spPr>
        <p:txBody>
          <a:bodyPr vert="horz" lIns="91440" tIns="45720" rIns="91440" bIns="45720" rtlCol="0" anchor="ctr">
            <a:noAutofit/>
          </a:bodyPr>
          <a:lstStyle>
            <a:lvl1pPr algn="ctr">
              <a:defRPr sz="1200" b="0" cap="all" spc="300" baseline="0">
                <a:solidFill>
                  <a:schemeClr val="tx1"/>
                </a:solidFill>
              </a:defRPr>
            </a:lvl1pPr>
          </a:lstStyle>
          <a:p>
            <a:fld id="{20924D83-8D3C-4F72-ADC5-645D4996B606}" type="datetimeFigureOut">
              <a:rPr lang="en-US" smtClean="0"/>
              <a:t>5/18/2023</a:t>
            </a:fld>
            <a:endParaRPr lang="en-US"/>
          </a:p>
        </p:txBody>
      </p:sp>
      <p:sp>
        <p:nvSpPr>
          <p:cNvPr id="5" name="Footer Placeholder 4"/>
          <p:cNvSpPr>
            <a:spLocks noGrp="1"/>
          </p:cNvSpPr>
          <p:nvPr>
            <p:ph type="ftr" sz="quarter" idx="3"/>
          </p:nvPr>
        </p:nvSpPr>
        <p:spPr>
          <a:xfrm>
            <a:off x="1447800" y="6486525"/>
            <a:ext cx="6248400" cy="292100"/>
          </a:xfrm>
          <a:prstGeom prst="rect">
            <a:avLst/>
          </a:prstGeom>
        </p:spPr>
        <p:txBody>
          <a:bodyPr vert="horz" lIns="91440" tIns="45720" rIns="91440" bIns="45720" rtlCol="0" anchor="ctr">
            <a:normAutofit/>
          </a:bodyPr>
          <a:lstStyle>
            <a:lvl1pPr algn="ctr">
              <a:defRPr sz="1100" b="0" cap="all" spc="300" baseline="0">
                <a:solidFill>
                  <a:schemeClr val="tx1"/>
                </a:solidFill>
              </a:defRPr>
            </a:lvl1pPr>
          </a:lstStyle>
          <a:p>
            <a:endParaRPr lang="en-US"/>
          </a:p>
        </p:txBody>
      </p:sp>
      <p:sp>
        <p:nvSpPr>
          <p:cNvPr id="6" name="Slide Number Placeholder 5"/>
          <p:cNvSpPr>
            <a:spLocks noGrp="1"/>
          </p:cNvSpPr>
          <p:nvPr>
            <p:ph type="sldNum" sz="quarter" idx="4"/>
          </p:nvPr>
        </p:nvSpPr>
        <p:spPr>
          <a:xfrm>
            <a:off x="4038600" y="6172200"/>
            <a:ext cx="1066800" cy="304800"/>
          </a:xfrm>
          <a:prstGeom prst="rect">
            <a:avLst/>
          </a:prstGeom>
          <a:ln>
            <a:noFill/>
          </a:ln>
        </p:spPr>
        <p:txBody>
          <a:bodyPr vert="horz" lIns="0" tIns="0" rIns="0" bIns="0" rtlCol="0" anchor="ctr">
            <a:normAutofit/>
          </a:bodyPr>
          <a:lstStyle>
            <a:lvl1pPr algn="ctr">
              <a:defRPr sz="1200" b="1">
                <a:solidFill>
                  <a:schemeClr val="tx1"/>
                </a:solidFill>
              </a:defRPr>
            </a:lvl1pPr>
          </a:lstStyle>
          <a:p>
            <a:fld id="{7AB55DDC-FAA8-44F8-97DD-9FD0EA8E9BE6}" type="slidenum">
              <a:rPr lang="en-US" smtClean="0"/>
              <a:t>‹#›</a:t>
            </a:fld>
            <a:endParaRPr lang="en-US"/>
          </a:p>
        </p:txBody>
      </p:sp>
      <p:cxnSp>
        <p:nvCxnSpPr>
          <p:cNvPr id="10" name="Straight Connector 9"/>
          <p:cNvCxnSpPr/>
          <p:nvPr/>
        </p:nvCxnSpPr>
        <p:spPr>
          <a:xfrm>
            <a:off x="0" y="1331436"/>
            <a:ext cx="9144000" cy="1588"/>
          </a:xfrm>
          <a:prstGeom prst="line">
            <a:avLst/>
          </a:prstGeom>
          <a:ln w="12700">
            <a:solidFill>
              <a:schemeClr val="tx2">
                <a:lumMod val="75000"/>
              </a:schemeClr>
            </a:solidFill>
          </a:ln>
          <a:effectLst/>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2514600" y="975360"/>
            <a:ext cx="4114800" cy="701040"/>
          </a:xfrm>
          <a:prstGeom prst="rect">
            <a:avLst/>
          </a:prstGeom>
          <a:solidFill>
            <a:schemeClr val="tx1"/>
          </a:solidFill>
          <a:ln w="76200" cmpd="thinThick">
            <a:solidFill>
              <a:schemeClr val="tx1"/>
            </a:solidFill>
            <a:miter lim="800000"/>
          </a:ln>
        </p:spPr>
        <p:txBody>
          <a:bodyPr vert="horz" lIns="91440" tIns="45720" rIns="91440" bIns="45720" rtlCol="0" anchor="ctr" anchorCtr="0">
            <a:normAutofit/>
          </a:bodyPr>
          <a:lstStyle/>
          <a:p>
            <a:r>
              <a:rPr lang="en-US" smtClean="0"/>
              <a:t>Click to edit Master title style</a:t>
            </a:r>
            <a:endParaRPr lang="en-US" dirty="0"/>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ts val="400"/>
        </a:spcBef>
        <a:buNone/>
        <a:defRPr sz="1800" b="1" kern="1200" cap="all" spc="0" baseline="0">
          <a:solidFill>
            <a:schemeClr val="bg1">
              <a:lumMod val="75000"/>
              <a:lumOff val="25000"/>
            </a:schemeClr>
          </a:solidFill>
          <a:effectLst/>
          <a:latin typeface="+mj-lt"/>
          <a:ea typeface="+mj-ea"/>
          <a:cs typeface="Tunga" pitchFamily="2"/>
        </a:defRPr>
      </a:lvl1pPr>
    </p:titleStyle>
    <p:bodyStyle>
      <a:lvl1pPr marL="0" indent="0" algn="ctr" defTabSz="914400" rtl="0" eaLnBrk="1" latinLnBrk="0" hangingPunct="1">
        <a:lnSpc>
          <a:spcPct val="100000"/>
        </a:lnSpc>
        <a:spcBef>
          <a:spcPts val="600"/>
        </a:spcBef>
        <a:spcAft>
          <a:spcPts val="0"/>
        </a:spcAft>
        <a:buClr>
          <a:schemeClr val="accent1"/>
        </a:buClr>
        <a:buFontTx/>
        <a:buNone/>
        <a:defRPr sz="2000" b="0" i="0" kern="1200" cap="none" spc="30" baseline="0">
          <a:solidFill>
            <a:schemeClr val="tx1"/>
          </a:solidFill>
          <a:latin typeface="+mn-lt"/>
          <a:ea typeface="+mn-ea"/>
          <a:cs typeface="Tahoma" pitchFamily="34" charset="0"/>
        </a:defRPr>
      </a:lvl1pPr>
      <a:lvl2pPr marL="0" indent="0" algn="ctr" defTabSz="914400" rtl="0" eaLnBrk="1" latinLnBrk="0" hangingPunct="1">
        <a:lnSpc>
          <a:spcPct val="100000"/>
        </a:lnSpc>
        <a:spcBef>
          <a:spcPts val="1200"/>
        </a:spcBef>
        <a:buClr>
          <a:schemeClr val="accent1"/>
        </a:buClr>
        <a:buFontTx/>
        <a:buNone/>
        <a:defRPr sz="1800" kern="1200">
          <a:solidFill>
            <a:schemeClr val="tx2"/>
          </a:solidFill>
          <a:latin typeface="+mn-lt"/>
          <a:ea typeface="+mn-ea"/>
          <a:cs typeface="Tahoma" pitchFamily="34" charset="0"/>
        </a:defRPr>
      </a:lvl2pPr>
      <a:lvl3pPr marL="0" indent="0" algn="ctr" defTabSz="914400" rtl="0" eaLnBrk="1" latinLnBrk="0" hangingPunct="1">
        <a:lnSpc>
          <a:spcPct val="100000"/>
        </a:lnSpc>
        <a:spcBef>
          <a:spcPts val="1200"/>
        </a:spcBef>
        <a:buClr>
          <a:schemeClr val="accent1"/>
        </a:buClr>
        <a:buFontTx/>
        <a:buNone/>
        <a:defRPr sz="1600" kern="1200">
          <a:solidFill>
            <a:schemeClr val="tx1"/>
          </a:solidFill>
          <a:latin typeface="+mn-lt"/>
          <a:ea typeface="+mn-ea"/>
          <a:cs typeface="Tahoma" pitchFamily="34" charset="0"/>
        </a:defRPr>
      </a:lvl3pPr>
      <a:lvl4pPr marL="0" indent="0" algn="ctr" defTabSz="914400" rtl="0" eaLnBrk="1" latinLnBrk="0" hangingPunct="1">
        <a:lnSpc>
          <a:spcPct val="100000"/>
        </a:lnSpc>
        <a:spcBef>
          <a:spcPts val="1200"/>
        </a:spcBef>
        <a:buClr>
          <a:schemeClr val="accent1"/>
        </a:buClr>
        <a:buFontTx/>
        <a:buNone/>
        <a:defRPr sz="1400" kern="1200">
          <a:solidFill>
            <a:schemeClr val="tx2"/>
          </a:solidFill>
          <a:latin typeface="+mn-lt"/>
          <a:ea typeface="+mn-ea"/>
          <a:cs typeface="Tahoma" pitchFamily="34" charset="0"/>
        </a:defRPr>
      </a:lvl4pPr>
      <a:lvl5pPr marL="0" indent="0" algn="ctr" defTabSz="914400" rtl="0" eaLnBrk="1" latinLnBrk="0" hangingPunct="1">
        <a:lnSpc>
          <a:spcPct val="100000"/>
        </a:lnSpc>
        <a:spcBef>
          <a:spcPts val="1200"/>
        </a:spcBef>
        <a:buClr>
          <a:schemeClr val="accent1"/>
        </a:buClr>
        <a:buFontTx/>
        <a:buNone/>
        <a:defRPr sz="1400" kern="1200" baseline="0">
          <a:solidFill>
            <a:schemeClr val="tx1"/>
          </a:solidFill>
          <a:latin typeface="+mn-lt"/>
          <a:ea typeface="+mn-ea"/>
          <a:cs typeface="Tahoma" pitchFamily="34" charset="0"/>
        </a:defRPr>
      </a:lvl5pPr>
      <a:lvl6pPr marL="0" indent="0" algn="ctr" defTabSz="914400" rtl="0" eaLnBrk="1" latinLnBrk="0" hangingPunct="1">
        <a:lnSpc>
          <a:spcPct val="100000"/>
        </a:lnSpc>
        <a:spcBef>
          <a:spcPts val="1200"/>
        </a:spcBef>
        <a:buFont typeface="Arial" pitchFamily="34" charset="0"/>
        <a:buNone/>
        <a:defRPr sz="1400" kern="1200">
          <a:solidFill>
            <a:schemeClr val="tx2"/>
          </a:solidFill>
          <a:latin typeface="+mn-lt"/>
          <a:ea typeface="+mn-ea"/>
          <a:cs typeface="+mn-cs"/>
        </a:defRPr>
      </a:lvl6pPr>
      <a:lvl7pPr marL="0" indent="0" algn="ctr" defTabSz="914400" rtl="0" eaLnBrk="1" latinLnBrk="0" hangingPunct="1">
        <a:lnSpc>
          <a:spcPct val="100000"/>
        </a:lnSpc>
        <a:spcBef>
          <a:spcPts val="1200"/>
        </a:spcBef>
        <a:buFont typeface="Arial" pitchFamily="34" charset="0"/>
        <a:buNone/>
        <a:defRPr sz="1400" kern="1200">
          <a:solidFill>
            <a:schemeClr val="tx1"/>
          </a:solidFill>
          <a:latin typeface="+mn-lt"/>
          <a:ea typeface="+mn-ea"/>
          <a:cs typeface="+mn-cs"/>
        </a:defRPr>
      </a:lvl7pPr>
      <a:lvl8pPr marL="0" indent="0" algn="ctr" defTabSz="914400" rtl="0" eaLnBrk="1" latinLnBrk="0" hangingPunct="1">
        <a:lnSpc>
          <a:spcPct val="100000"/>
        </a:lnSpc>
        <a:spcBef>
          <a:spcPts val="1200"/>
        </a:spcBef>
        <a:buFont typeface="Arial" pitchFamily="34" charset="0"/>
        <a:buNone/>
        <a:defRPr sz="1400" kern="1200">
          <a:solidFill>
            <a:schemeClr val="tx2"/>
          </a:solidFill>
          <a:latin typeface="+mn-lt"/>
          <a:ea typeface="+mn-ea"/>
          <a:cs typeface="+mn-cs"/>
        </a:defRPr>
      </a:lvl8pPr>
      <a:lvl9pPr marL="0" indent="0" algn="ctr" defTabSz="914400" rtl="0" eaLnBrk="1" latinLnBrk="0" hangingPunct="1">
        <a:lnSpc>
          <a:spcPct val="100000"/>
        </a:lnSpc>
        <a:spcBef>
          <a:spcPts val="1200"/>
        </a:spcBef>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www.youtube.com/" TargetMode="External"/><Relationship Id="rId2" Type="http://schemas.openxmlformats.org/officeDocument/2006/relationships/hyperlink" Target="http://www.google.com/" TargetMode="External"/><Relationship Id="rId1" Type="http://schemas.openxmlformats.org/officeDocument/2006/relationships/slideLayout" Target="../slideLayouts/slideLayout7.xml"/><Relationship Id="rId5" Type="http://schemas.openxmlformats.org/officeDocument/2006/relationships/hyperlink" Target="http://www.geeksforgeeks.com/" TargetMode="External"/><Relationship Id="rId4" Type="http://schemas.openxmlformats.org/officeDocument/2006/relationships/hyperlink" Target="http://www.w3schools.com/" TargetMode="External"/></Relationships>
</file>

<file path=ppt/slides/_rels/slide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US"/>
          </a:p>
        </p:txBody>
      </p:sp>
      <p:sp>
        <p:nvSpPr>
          <p:cNvPr id="2" name="Title 1"/>
          <p:cNvSpPr>
            <a:spLocks noGrp="1"/>
          </p:cNvSpPr>
          <p:nvPr>
            <p:ph type="title"/>
          </p:nvPr>
        </p:nvSpPr>
        <p:spPr/>
        <p:txBody>
          <a:bodyPr/>
          <a:lstStyle/>
          <a:p>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1704975" y="304800"/>
            <a:ext cx="5734050" cy="1407160"/>
          </a:xfrm>
          <a:prstGeom prst="rect">
            <a:avLst/>
          </a:prstGeom>
        </p:spPr>
      </p:pic>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1219200" y="1981200"/>
            <a:ext cx="6705600" cy="4648200"/>
          </a:xfrm>
          <a:prstGeom prst="rect">
            <a:avLst/>
          </a:prstGeom>
        </p:spPr>
      </p:pic>
    </p:spTree>
    <p:extLst>
      <p:ext uri="{BB962C8B-B14F-4D97-AF65-F5344CB8AC3E}">
        <p14:creationId xmlns:p14="http://schemas.microsoft.com/office/powerpoint/2010/main" val="34816394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tretch>
            <a:fillRect/>
          </a:stretch>
        </p:blipFill>
        <p:spPr>
          <a:xfrm>
            <a:off x="1718456" y="-609600"/>
            <a:ext cx="5707087" cy="7795260"/>
          </a:xfrm>
          <a:prstGeom prst="rect">
            <a:avLst/>
          </a:prstGeom>
        </p:spPr>
      </p:pic>
    </p:spTree>
    <p:extLst>
      <p:ext uri="{BB962C8B-B14F-4D97-AF65-F5344CB8AC3E}">
        <p14:creationId xmlns:p14="http://schemas.microsoft.com/office/powerpoint/2010/main" val="252726758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863600"/>
            <a:ext cx="7315200" cy="4893647"/>
          </a:xfrm>
          <a:prstGeom prst="rect">
            <a:avLst/>
          </a:prstGeom>
        </p:spPr>
        <p:txBody>
          <a:bodyPr wrap="square">
            <a:spAutoFit/>
          </a:bodyPr>
          <a:lstStyle/>
          <a:p>
            <a:pPr algn="ctr"/>
            <a:r>
              <a:rPr lang="en-US" sz="5400" b="1" dirty="0">
                <a:latin typeface="Viner Hand ITC" pitchFamily="66" charset="0"/>
              </a:rPr>
              <a:t>Objective</a:t>
            </a:r>
          </a:p>
          <a:p>
            <a:r>
              <a:rPr lang="en-US" dirty="0"/>
              <a:t> </a:t>
            </a:r>
          </a:p>
          <a:p>
            <a:r>
              <a:rPr lang="en-US" sz="2400" dirty="0">
                <a:latin typeface="Lucida Calligraphy" pitchFamily="66" charset="0"/>
              </a:rPr>
              <a:t>The main aim and objective of this project is use to manage the details of Shop, Sales, Purchase, Payment, Charges and Stock Management.</a:t>
            </a:r>
          </a:p>
          <a:p>
            <a:r>
              <a:rPr lang="en-US" sz="2400" dirty="0">
                <a:latin typeface="Lucida Calligraphy" pitchFamily="66" charset="0"/>
              </a:rPr>
              <a:t>Super </a:t>
            </a:r>
            <a:r>
              <a:rPr lang="en-US" sz="2400" dirty="0" err="1">
                <a:latin typeface="Lucida Calligraphy" pitchFamily="66" charset="0"/>
              </a:rPr>
              <a:t>Shopee</a:t>
            </a:r>
            <a:r>
              <a:rPr lang="en-US" sz="2400" dirty="0">
                <a:latin typeface="Lucida Calligraphy" pitchFamily="66" charset="0"/>
              </a:rPr>
              <a:t> is a project based on real Shop, main purpose of creating project is to reduce manual work for managing the Shop, Sales, Purchase, Payment, Charges, Customer details, Supplier details and Stock Management.</a:t>
            </a:r>
          </a:p>
        </p:txBody>
      </p:sp>
    </p:spTree>
    <p:extLst>
      <p:ext uri="{BB962C8B-B14F-4D97-AF65-F5344CB8AC3E}">
        <p14:creationId xmlns:p14="http://schemas.microsoft.com/office/powerpoint/2010/main" val="18437964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457200"/>
            <a:ext cx="7315200" cy="5909310"/>
          </a:xfrm>
          <a:prstGeom prst="rect">
            <a:avLst/>
          </a:prstGeom>
        </p:spPr>
        <p:txBody>
          <a:bodyPr wrap="square">
            <a:spAutoFit/>
          </a:bodyPr>
          <a:lstStyle/>
          <a:p>
            <a:pPr algn="ctr"/>
            <a:r>
              <a:rPr lang="en-US" sz="5400" b="1" dirty="0">
                <a:latin typeface="Viner Hand ITC" pitchFamily="66" charset="0"/>
              </a:rPr>
              <a:t>Introduction</a:t>
            </a:r>
          </a:p>
          <a:p>
            <a:r>
              <a:rPr lang="en-US" dirty="0">
                <a:latin typeface="Lucida Calligraphy" pitchFamily="66" charset="0"/>
              </a:rPr>
              <a:t>Every organization, whether big or small, has challenges to overcome and managing the information of Customer, Supplier, Sales, Purchase, and </a:t>
            </a:r>
            <a:r>
              <a:rPr lang="en-US" dirty="0" smtClean="0">
                <a:latin typeface="Lucida Calligraphy" pitchFamily="66" charset="0"/>
              </a:rPr>
              <a:t>Payments</a:t>
            </a:r>
            <a:r>
              <a:rPr lang="en-US" dirty="0">
                <a:latin typeface="Lucida Calligraphy" pitchFamily="66" charset="0"/>
              </a:rPr>
              <a:t> </a:t>
            </a:r>
            <a:r>
              <a:rPr lang="en-US" dirty="0" err="1" smtClean="0">
                <a:latin typeface="Lucida Calligraphy" pitchFamily="66" charset="0"/>
              </a:rPr>
              <a:t>theregore</a:t>
            </a:r>
            <a:r>
              <a:rPr lang="en-US" dirty="0" smtClean="0">
                <a:latin typeface="Lucida Calligraphy" pitchFamily="66" charset="0"/>
              </a:rPr>
              <a:t> </a:t>
            </a:r>
            <a:r>
              <a:rPr lang="en-US" dirty="0">
                <a:latin typeface="Lucida Calligraphy" pitchFamily="66" charset="0"/>
              </a:rPr>
              <a:t>"Super </a:t>
            </a:r>
            <a:r>
              <a:rPr lang="en-US" dirty="0" err="1">
                <a:latin typeface="Lucida Calligraphy" pitchFamily="66" charset="0"/>
              </a:rPr>
              <a:t>Shopee</a:t>
            </a:r>
            <a:r>
              <a:rPr lang="en-US" dirty="0">
                <a:latin typeface="Lucida Calligraphy" pitchFamily="66" charset="0"/>
              </a:rPr>
              <a:t>" has been developed to override the problems prevailing in the practicing manual system. This software is supported to eliminate and in some cases reduce the hardships faced by this existing system. Moreover this system is designed for the particular need of the company to carry out operations in a smooth and effective manner. </a:t>
            </a:r>
          </a:p>
          <a:p>
            <a:r>
              <a:rPr lang="en-US" dirty="0">
                <a:latin typeface="Lucida Calligraphy" pitchFamily="66" charset="0"/>
              </a:rPr>
              <a:t>The application is reduced as much as possible to avoid errors while entering the data. It also provides error message while entering invalid data. No formal knowledge is needed for the user to use this system</a:t>
            </a:r>
            <a:r>
              <a:rPr lang="en-US" dirty="0" smtClean="0">
                <a:latin typeface="Lucida Calligraphy" pitchFamily="66" charset="0"/>
              </a:rPr>
              <a:t>. It </a:t>
            </a:r>
            <a:r>
              <a:rPr lang="en-US" dirty="0">
                <a:latin typeface="Lucida Calligraphy" pitchFamily="66" charset="0"/>
              </a:rPr>
              <a:t>can lead to error free, secure, reliable and fast management system. It can assist the user to concentrate on their other activities rather to concentrate on the record keeping. Thus it will help organization in better utilization of resources. </a:t>
            </a:r>
          </a:p>
        </p:txBody>
      </p:sp>
    </p:spTree>
    <p:extLst>
      <p:ext uri="{BB962C8B-B14F-4D97-AF65-F5344CB8AC3E}">
        <p14:creationId xmlns:p14="http://schemas.microsoft.com/office/powerpoint/2010/main" val="36026384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9221" y="1066800"/>
            <a:ext cx="7467600" cy="4801314"/>
          </a:xfrm>
          <a:prstGeom prst="rect">
            <a:avLst/>
          </a:prstGeom>
        </p:spPr>
        <p:txBody>
          <a:bodyPr wrap="square">
            <a:spAutoFit/>
          </a:bodyPr>
          <a:lstStyle/>
          <a:p>
            <a:pPr algn="ctr"/>
            <a:r>
              <a:rPr lang="en-US" sz="5400" b="1" dirty="0" smtClean="0">
                <a:latin typeface="Viner Hand ITC" pitchFamily="66" charset="0"/>
              </a:rPr>
              <a:t>Project Description</a:t>
            </a:r>
          </a:p>
          <a:p>
            <a:endParaRPr lang="en-US" dirty="0" smtClean="0">
              <a:latin typeface="Lucida Calligraphy" pitchFamily="66" charset="0"/>
            </a:endParaRPr>
          </a:p>
          <a:p>
            <a:endParaRPr lang="en-US" dirty="0">
              <a:latin typeface="Lucida Calligraphy" pitchFamily="66" charset="0"/>
            </a:endParaRPr>
          </a:p>
          <a:p>
            <a:r>
              <a:rPr lang="en-US" dirty="0" smtClean="0">
                <a:latin typeface="Lucida Calligraphy" pitchFamily="66" charset="0"/>
              </a:rPr>
              <a:t>The </a:t>
            </a:r>
            <a:r>
              <a:rPr lang="en-US" dirty="0">
                <a:latin typeface="Lucida Calligraphy" pitchFamily="66" charset="0"/>
              </a:rPr>
              <a:t>Objective of this project is to develop a system that automates the process of maintaining sale, purchase, stock, customer and supplier details. The purpose is to design a system using which one can perform all operations related to shop.</a:t>
            </a:r>
          </a:p>
          <a:p>
            <a:r>
              <a:rPr lang="en-US" dirty="0">
                <a:latin typeface="Lucida Calligraphy" pitchFamily="66" charset="0"/>
              </a:rPr>
              <a:t>This System maintains &amp; controls the database of customer and supplier information.</a:t>
            </a:r>
          </a:p>
          <a:p>
            <a:r>
              <a:rPr lang="en-US" dirty="0">
                <a:latin typeface="Lucida Calligraphy" pitchFamily="66" charset="0"/>
              </a:rPr>
              <a:t> </a:t>
            </a:r>
          </a:p>
          <a:p>
            <a:r>
              <a:rPr lang="en-US" dirty="0">
                <a:latin typeface="Lucida Calligraphy" pitchFamily="66" charset="0"/>
              </a:rPr>
              <a:t>The system mainly organizes the shop information. The main purpose behind to make this system for effective &amp; efficient work. To make the security system computerizes &amp; maintains the records.</a:t>
            </a:r>
          </a:p>
        </p:txBody>
      </p:sp>
    </p:spTree>
    <p:extLst>
      <p:ext uri="{BB962C8B-B14F-4D97-AF65-F5344CB8AC3E}">
        <p14:creationId xmlns:p14="http://schemas.microsoft.com/office/powerpoint/2010/main" val="1332112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221271"/>
            <a:ext cx="7467600" cy="6463308"/>
          </a:xfrm>
          <a:prstGeom prst="rect">
            <a:avLst/>
          </a:prstGeom>
        </p:spPr>
        <p:txBody>
          <a:bodyPr wrap="square">
            <a:spAutoFit/>
          </a:bodyPr>
          <a:lstStyle/>
          <a:p>
            <a:pPr algn="ctr"/>
            <a:r>
              <a:rPr lang="en-US" sz="5400" b="1" dirty="0">
                <a:latin typeface="Viner Hand ITC" pitchFamily="66" charset="0"/>
              </a:rPr>
              <a:t>Existing System</a:t>
            </a:r>
            <a:endParaRPr lang="en-US" sz="5400" dirty="0">
              <a:latin typeface="Viner Hand ITC" pitchFamily="66" charset="0"/>
            </a:endParaRPr>
          </a:p>
          <a:p>
            <a:r>
              <a:rPr lang="en-US" dirty="0"/>
              <a:t> </a:t>
            </a:r>
          </a:p>
          <a:p>
            <a:pPr lvl="0"/>
            <a:r>
              <a:rPr lang="en-US" dirty="0">
                <a:latin typeface="Lucida Calligraphy" pitchFamily="66" charset="0"/>
              </a:rPr>
              <a:t>The existing system is maintained by manually, which in turn caused dependency between colleagues</a:t>
            </a:r>
            <a:r>
              <a:rPr lang="en-US" dirty="0" smtClean="0">
                <a:latin typeface="Lucida Calligraphy" pitchFamily="66" charset="0"/>
              </a:rPr>
              <a:t>.</a:t>
            </a:r>
          </a:p>
          <a:p>
            <a:pPr lvl="0"/>
            <a:endParaRPr lang="en-US" dirty="0">
              <a:latin typeface="Lucida Calligraphy" pitchFamily="66" charset="0"/>
            </a:endParaRPr>
          </a:p>
          <a:p>
            <a:pPr lvl="0"/>
            <a:r>
              <a:rPr lang="en-US" dirty="0">
                <a:latin typeface="Lucida Calligraphy" pitchFamily="66" charset="0"/>
              </a:rPr>
              <a:t>It is not easy to keep the all information about the shop manually, because procedure is very and theoretical.</a:t>
            </a:r>
          </a:p>
          <a:p>
            <a:r>
              <a:rPr lang="en-US" dirty="0">
                <a:latin typeface="Lucida Calligraphy" pitchFamily="66" charset="0"/>
              </a:rPr>
              <a:t> </a:t>
            </a:r>
          </a:p>
          <a:p>
            <a:pPr lvl="0"/>
            <a:r>
              <a:rPr lang="en-US" dirty="0">
                <a:latin typeface="Lucida Calligraphy" pitchFamily="66" charset="0"/>
              </a:rPr>
              <a:t>Sometimes information may get lost because of its writing in the books and register.</a:t>
            </a:r>
          </a:p>
          <a:p>
            <a:r>
              <a:rPr lang="en-US" dirty="0">
                <a:latin typeface="Lucida Calligraphy" pitchFamily="66" charset="0"/>
              </a:rPr>
              <a:t> </a:t>
            </a:r>
          </a:p>
          <a:p>
            <a:pPr lvl="0"/>
            <a:r>
              <a:rPr lang="en-US" dirty="0">
                <a:latin typeface="Lucida Calligraphy" pitchFamily="66" charset="0"/>
              </a:rPr>
              <a:t>It also led to loss of time &amp; energy.</a:t>
            </a:r>
          </a:p>
          <a:p>
            <a:r>
              <a:rPr lang="en-US" dirty="0">
                <a:latin typeface="Lucida Calligraphy" pitchFamily="66" charset="0"/>
              </a:rPr>
              <a:t> </a:t>
            </a:r>
          </a:p>
          <a:p>
            <a:pPr lvl="0"/>
            <a:r>
              <a:rPr lang="en-US" dirty="0">
                <a:latin typeface="Lucida Calligraphy" pitchFamily="66" charset="0"/>
              </a:rPr>
              <a:t>The records or transaction are not to be properly maintained.</a:t>
            </a:r>
          </a:p>
          <a:p>
            <a:pPr lvl="0"/>
            <a:endParaRPr lang="en-US" dirty="0" smtClean="0">
              <a:latin typeface="Lucida Calligraphy" pitchFamily="66" charset="0"/>
            </a:endParaRPr>
          </a:p>
          <a:p>
            <a:pPr lvl="0"/>
            <a:r>
              <a:rPr lang="en-US" dirty="0" smtClean="0">
                <a:latin typeface="Lucida Calligraphy" pitchFamily="66" charset="0"/>
              </a:rPr>
              <a:t>The </a:t>
            </a:r>
            <a:r>
              <a:rPr lang="en-US" dirty="0">
                <a:latin typeface="Lucida Calligraphy" pitchFamily="66" charset="0"/>
              </a:rPr>
              <a:t>process of purchase, billing and selling is lengthy. Difficult to maintain the customer details of package and payment receipt in register.</a:t>
            </a:r>
          </a:p>
          <a:p>
            <a:r>
              <a:rPr lang="en-US" dirty="0">
                <a:latin typeface="Lucida Calligraphy" pitchFamily="66" charset="0"/>
              </a:rPr>
              <a:t> </a:t>
            </a:r>
          </a:p>
          <a:p>
            <a:r>
              <a:rPr lang="en-US" dirty="0">
                <a:latin typeface="Lucida Calligraphy" pitchFamily="66" charset="0"/>
              </a:rPr>
              <a:t>It consist lot of paper work, which was difficult to </a:t>
            </a:r>
            <a:r>
              <a:rPr lang="en-US" dirty="0" smtClean="0">
                <a:latin typeface="Lucida Calligraphy" pitchFamily="66" charset="0"/>
              </a:rPr>
              <a:t>manage.</a:t>
            </a:r>
            <a:endParaRPr lang="en-US" dirty="0">
              <a:latin typeface="Lucida Calligraphy" pitchFamily="66" charset="0"/>
            </a:endParaRPr>
          </a:p>
        </p:txBody>
      </p:sp>
    </p:spTree>
    <p:extLst>
      <p:ext uri="{BB962C8B-B14F-4D97-AF65-F5344CB8AC3E}">
        <p14:creationId xmlns:p14="http://schemas.microsoft.com/office/powerpoint/2010/main" val="4125490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38200" y="197346"/>
            <a:ext cx="7543800" cy="6186309"/>
          </a:xfrm>
          <a:prstGeom prst="rect">
            <a:avLst/>
          </a:prstGeom>
        </p:spPr>
        <p:txBody>
          <a:bodyPr wrap="square">
            <a:spAutoFit/>
          </a:bodyPr>
          <a:lstStyle/>
          <a:p>
            <a:pPr algn="ctr"/>
            <a:r>
              <a:rPr lang="en-US" sz="5400" b="1" dirty="0">
                <a:latin typeface="Viner Hand ITC" pitchFamily="66" charset="0"/>
              </a:rPr>
              <a:t>Proposed System</a:t>
            </a:r>
            <a:endParaRPr lang="en-US" sz="5400" dirty="0">
              <a:latin typeface="Viner Hand ITC" pitchFamily="66" charset="0"/>
            </a:endParaRPr>
          </a:p>
          <a:p>
            <a:endParaRPr lang="en-US" dirty="0" smtClean="0">
              <a:latin typeface="Lucida Calligraphy" pitchFamily="66" charset="0"/>
            </a:endParaRPr>
          </a:p>
          <a:p>
            <a:r>
              <a:rPr lang="en-US" dirty="0">
                <a:latin typeface="Lucida Calligraphy" pitchFamily="66" charset="0"/>
              </a:rPr>
              <a:t> </a:t>
            </a:r>
          </a:p>
          <a:p>
            <a:pPr lvl="0"/>
            <a:r>
              <a:rPr lang="en-US" dirty="0">
                <a:latin typeface="Lucida Calligraphy" pitchFamily="66" charset="0"/>
              </a:rPr>
              <a:t>It is utilize the accuracy of work.</a:t>
            </a:r>
          </a:p>
          <a:p>
            <a:pPr lvl="0"/>
            <a:r>
              <a:rPr lang="en-US" dirty="0">
                <a:latin typeface="Lucida Calligraphy" pitchFamily="66" charset="0"/>
              </a:rPr>
              <a:t>Proper maintenance of information about the shop.</a:t>
            </a:r>
          </a:p>
          <a:p>
            <a:pPr lvl="0"/>
            <a:r>
              <a:rPr lang="en-US" dirty="0">
                <a:latin typeface="Lucida Calligraphy" pitchFamily="66" charset="0"/>
              </a:rPr>
              <a:t>It also provides the service like selling, purchasing, billing, saving of data. </a:t>
            </a:r>
          </a:p>
          <a:p>
            <a:pPr lvl="0"/>
            <a:r>
              <a:rPr lang="en-US" dirty="0">
                <a:latin typeface="Lucida Calligraphy" pitchFamily="66" charset="0"/>
              </a:rPr>
              <a:t>It is very easy to insert, update, delete, modify &amp; retrieve data from the database.</a:t>
            </a:r>
          </a:p>
          <a:p>
            <a:pPr lvl="0"/>
            <a:r>
              <a:rPr lang="en-US" dirty="0">
                <a:latin typeface="Lucida Calligraphy" pitchFamily="66" charset="0"/>
              </a:rPr>
              <a:t>It reduces the redundancy &amp; duplication of information about the stock.</a:t>
            </a:r>
          </a:p>
          <a:p>
            <a:pPr lvl="0"/>
            <a:r>
              <a:rPr lang="en-US" dirty="0">
                <a:latin typeface="Lucida Calligraphy" pitchFamily="66" charset="0"/>
              </a:rPr>
              <a:t>The system had to eradicate all the disadvantage of the old system and prove its superiority.</a:t>
            </a:r>
          </a:p>
          <a:p>
            <a:pPr lvl="0"/>
            <a:r>
              <a:rPr lang="en-US" dirty="0">
                <a:latin typeface="Lucida Calligraphy" pitchFamily="66" charset="0"/>
              </a:rPr>
              <a:t>New system has ability to get things done at very rapid rate.</a:t>
            </a:r>
          </a:p>
          <a:p>
            <a:pPr lvl="0"/>
            <a:r>
              <a:rPr lang="en-US" dirty="0">
                <a:latin typeface="Lucida Calligraphy" pitchFamily="66" charset="0"/>
              </a:rPr>
              <a:t>The system stress information and provides it when actually needed.</a:t>
            </a:r>
          </a:p>
          <a:p>
            <a:pPr lvl="0"/>
            <a:r>
              <a:rPr lang="en-US" dirty="0">
                <a:latin typeface="Lucida Calligraphy" pitchFamily="66" charset="0"/>
              </a:rPr>
              <a:t>The system is accurate in calculation of a very accurate manner.</a:t>
            </a:r>
          </a:p>
          <a:p>
            <a:r>
              <a:rPr lang="en-US" dirty="0">
                <a:latin typeface="Lucida Calligraphy" pitchFamily="66" charset="0"/>
              </a:rPr>
              <a:t>It can’t be access unauthorized person because it’s security.</a:t>
            </a:r>
          </a:p>
        </p:txBody>
      </p:sp>
    </p:spTree>
    <p:extLst>
      <p:ext uri="{BB962C8B-B14F-4D97-AF65-F5344CB8AC3E}">
        <p14:creationId xmlns:p14="http://schemas.microsoft.com/office/powerpoint/2010/main" val="2874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3900" y="381000"/>
            <a:ext cx="7696200" cy="6186309"/>
          </a:xfrm>
          <a:prstGeom prst="rect">
            <a:avLst/>
          </a:prstGeom>
        </p:spPr>
        <p:txBody>
          <a:bodyPr wrap="square">
            <a:spAutoFit/>
          </a:bodyPr>
          <a:lstStyle/>
          <a:p>
            <a:pPr algn="ctr"/>
            <a:r>
              <a:rPr lang="en-US" sz="5400" b="1" dirty="0">
                <a:latin typeface="Viner Hand ITC" pitchFamily="66" charset="0"/>
              </a:rPr>
              <a:t>Scope of the </a:t>
            </a:r>
            <a:r>
              <a:rPr lang="en-US" sz="5400" b="1" dirty="0" smtClean="0">
                <a:latin typeface="Viner Hand ITC" pitchFamily="66" charset="0"/>
              </a:rPr>
              <a:t>system</a:t>
            </a:r>
            <a:endParaRPr lang="en-US" sz="5400" dirty="0" smtClean="0">
              <a:latin typeface="Viner Hand ITC" pitchFamily="66" charset="0"/>
            </a:endParaRPr>
          </a:p>
          <a:p>
            <a:pPr lvl="0"/>
            <a:endParaRPr lang="en-US" dirty="0" smtClean="0">
              <a:latin typeface="Lucida Calligraphy" pitchFamily="66" charset="0"/>
            </a:endParaRPr>
          </a:p>
          <a:p>
            <a:pPr lvl="0"/>
            <a:endParaRPr lang="en-US" dirty="0" smtClean="0">
              <a:latin typeface="Lucida Calligraphy" pitchFamily="66" charset="0"/>
            </a:endParaRPr>
          </a:p>
          <a:p>
            <a:pPr lvl="0"/>
            <a:r>
              <a:rPr lang="en-US" dirty="0" smtClean="0">
                <a:latin typeface="Lucida Calligraphy" pitchFamily="66" charset="0"/>
              </a:rPr>
              <a:t>To </a:t>
            </a:r>
            <a:r>
              <a:rPr lang="en-US" dirty="0">
                <a:latin typeface="Lucida Calligraphy" pitchFamily="66" charset="0"/>
              </a:rPr>
              <a:t>utilize resources in an efficient manner by increasing their productivity through automation. </a:t>
            </a:r>
            <a:endParaRPr lang="en-US" dirty="0" smtClean="0">
              <a:latin typeface="Lucida Calligraphy" pitchFamily="66" charset="0"/>
            </a:endParaRPr>
          </a:p>
          <a:p>
            <a:pPr lvl="0"/>
            <a:endParaRPr lang="en-US" dirty="0">
              <a:latin typeface="Lucida Calligraphy" pitchFamily="66" charset="0"/>
            </a:endParaRPr>
          </a:p>
          <a:p>
            <a:pPr lvl="0"/>
            <a:r>
              <a:rPr lang="en-US" dirty="0">
                <a:latin typeface="Lucida Calligraphy" pitchFamily="66" charset="0"/>
              </a:rPr>
              <a:t>The system generates types of information that can be used for various purposes</a:t>
            </a:r>
            <a:r>
              <a:rPr lang="en-US" dirty="0" smtClean="0">
                <a:latin typeface="Lucida Calligraphy" pitchFamily="66" charset="0"/>
              </a:rPr>
              <a:t>.</a:t>
            </a:r>
          </a:p>
          <a:p>
            <a:pPr lvl="0"/>
            <a:endParaRPr lang="en-US" dirty="0">
              <a:latin typeface="Lucida Calligraphy" pitchFamily="66" charset="0"/>
            </a:endParaRPr>
          </a:p>
          <a:p>
            <a:pPr lvl="0"/>
            <a:r>
              <a:rPr lang="en-US" dirty="0">
                <a:latin typeface="Lucida Calligraphy" pitchFamily="66" charset="0"/>
              </a:rPr>
              <a:t>It satisfies the user requirement</a:t>
            </a:r>
            <a:r>
              <a:rPr lang="en-US" dirty="0" smtClean="0">
                <a:latin typeface="Lucida Calligraphy" pitchFamily="66" charset="0"/>
              </a:rPr>
              <a:t>.</a:t>
            </a:r>
          </a:p>
          <a:p>
            <a:pPr lvl="0"/>
            <a:endParaRPr lang="en-US" dirty="0">
              <a:latin typeface="Lucida Calligraphy" pitchFamily="66" charset="0"/>
            </a:endParaRPr>
          </a:p>
          <a:p>
            <a:pPr lvl="0"/>
            <a:r>
              <a:rPr lang="en-US" dirty="0">
                <a:latin typeface="Lucida Calligraphy" pitchFamily="66" charset="0"/>
              </a:rPr>
              <a:t>Be easy to understand by the user and operator</a:t>
            </a:r>
            <a:r>
              <a:rPr lang="en-US" dirty="0" smtClean="0">
                <a:latin typeface="Lucida Calligraphy" pitchFamily="66" charset="0"/>
              </a:rPr>
              <a:t>.</a:t>
            </a:r>
          </a:p>
          <a:p>
            <a:pPr lvl="0"/>
            <a:endParaRPr lang="en-US" dirty="0">
              <a:latin typeface="Lucida Calligraphy" pitchFamily="66" charset="0"/>
            </a:endParaRPr>
          </a:p>
          <a:p>
            <a:pPr lvl="0"/>
            <a:r>
              <a:rPr lang="en-US" dirty="0">
                <a:latin typeface="Lucida Calligraphy" pitchFamily="66" charset="0"/>
              </a:rPr>
              <a:t>Be easy to operate</a:t>
            </a:r>
            <a:r>
              <a:rPr lang="en-US" dirty="0" smtClean="0">
                <a:latin typeface="Lucida Calligraphy" pitchFamily="66" charset="0"/>
              </a:rPr>
              <a:t>.</a:t>
            </a:r>
          </a:p>
          <a:p>
            <a:pPr lvl="0"/>
            <a:endParaRPr lang="en-US" dirty="0">
              <a:latin typeface="Lucida Calligraphy" pitchFamily="66" charset="0"/>
            </a:endParaRPr>
          </a:p>
          <a:p>
            <a:pPr lvl="0"/>
            <a:r>
              <a:rPr lang="en-US" dirty="0">
                <a:latin typeface="Lucida Calligraphy" pitchFamily="66" charset="0"/>
              </a:rPr>
              <a:t>Has a good user interface</a:t>
            </a:r>
            <a:r>
              <a:rPr lang="en-US" dirty="0" smtClean="0">
                <a:latin typeface="Lucida Calligraphy" pitchFamily="66" charset="0"/>
              </a:rPr>
              <a:t>.</a:t>
            </a:r>
          </a:p>
          <a:p>
            <a:pPr lvl="0"/>
            <a:endParaRPr lang="en-US" dirty="0">
              <a:latin typeface="Lucida Calligraphy" pitchFamily="66" charset="0"/>
            </a:endParaRPr>
          </a:p>
          <a:p>
            <a:pPr lvl="0"/>
            <a:r>
              <a:rPr lang="en-US" dirty="0">
                <a:latin typeface="Lucida Calligraphy" pitchFamily="66" charset="0"/>
              </a:rPr>
              <a:t>Be expandable</a:t>
            </a:r>
            <a:r>
              <a:rPr lang="en-US" dirty="0" smtClean="0">
                <a:latin typeface="Lucida Calligraphy" pitchFamily="66" charset="0"/>
              </a:rPr>
              <a:t>.</a:t>
            </a:r>
          </a:p>
          <a:p>
            <a:pPr lvl="0"/>
            <a:endParaRPr lang="en-US" dirty="0">
              <a:latin typeface="Lucida Calligraphy" pitchFamily="66" charset="0"/>
            </a:endParaRPr>
          </a:p>
          <a:p>
            <a:pPr lvl="0"/>
            <a:r>
              <a:rPr lang="en-US" dirty="0">
                <a:latin typeface="Lucida Calligraphy" pitchFamily="66" charset="0"/>
              </a:rPr>
              <a:t>Delivered on schedule within the budget.</a:t>
            </a:r>
          </a:p>
        </p:txBody>
      </p:sp>
    </p:spTree>
    <p:extLst>
      <p:ext uri="{BB962C8B-B14F-4D97-AF65-F5344CB8AC3E}">
        <p14:creationId xmlns:p14="http://schemas.microsoft.com/office/powerpoint/2010/main" val="621369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1703" y="2590800"/>
            <a:ext cx="8260595" cy="1200329"/>
          </a:xfrm>
          <a:prstGeom prst="rect">
            <a:avLst/>
          </a:prstGeom>
        </p:spPr>
        <p:txBody>
          <a:bodyPr wrap="none">
            <a:spAutoFit/>
          </a:bodyPr>
          <a:lstStyle/>
          <a:p>
            <a:pPr algn="ctr"/>
            <a:r>
              <a:rPr lang="en-US" sz="7200" b="1" dirty="0">
                <a:latin typeface="Lucida Calligraphy" pitchFamily="66" charset="0"/>
              </a:rPr>
              <a:t>Data dictionary</a:t>
            </a:r>
            <a:endParaRPr lang="en-US" sz="7200" dirty="0">
              <a:latin typeface="Lucida Calligraphy" pitchFamily="66" charset="0"/>
            </a:endParaRPr>
          </a:p>
        </p:txBody>
      </p:sp>
    </p:spTree>
    <p:extLst>
      <p:ext uri="{BB962C8B-B14F-4D97-AF65-F5344CB8AC3E}">
        <p14:creationId xmlns:p14="http://schemas.microsoft.com/office/powerpoint/2010/main" val="1051820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276371583"/>
              </p:ext>
            </p:extLst>
          </p:nvPr>
        </p:nvGraphicFramePr>
        <p:xfrm>
          <a:off x="1600200" y="457200"/>
          <a:ext cx="5943600" cy="1577340"/>
        </p:xfrm>
        <a:graphic>
          <a:graphicData uri="http://schemas.openxmlformats.org/drawingml/2006/table">
            <a:tbl>
              <a:tblPr firstRow="1" firstCol="1" bandRow="1">
                <a:tableStyleId>{5C22544A-7EE6-4342-B048-85BDC9FD1C3A}</a:tableStyleId>
              </a:tblPr>
              <a:tblGrid>
                <a:gridCol w="1028700"/>
                <a:gridCol w="1371600"/>
                <a:gridCol w="1257300"/>
                <a:gridCol w="2286000"/>
              </a:tblGrid>
              <a:tr h="0">
                <a:tc gridSpan="4">
                  <a:txBody>
                    <a:bodyPr/>
                    <a:lstStyle/>
                    <a:p>
                      <a:pPr marL="0" marR="0" algn="ctr">
                        <a:lnSpc>
                          <a:spcPct val="115000"/>
                        </a:lnSpc>
                        <a:spcBef>
                          <a:spcPts val="0"/>
                        </a:spcBef>
                        <a:spcAft>
                          <a:spcPts val="0"/>
                        </a:spcAft>
                      </a:pPr>
                      <a:r>
                        <a:rPr lang="en-US" sz="1800" dirty="0">
                          <a:effectLst/>
                        </a:rPr>
                        <a:t>Supplier</a:t>
                      </a:r>
                      <a:endParaRPr lang="en-US" sz="1100" dirty="0">
                        <a:effectLst/>
                        <a:latin typeface="Calibri"/>
                        <a:ea typeface="Calibri"/>
                        <a:cs typeface="Arial"/>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r>
              <a:tr h="0">
                <a:tc>
                  <a:txBody>
                    <a:bodyPr/>
                    <a:lstStyle/>
                    <a:p>
                      <a:pPr marL="0" marR="0" algn="ctr">
                        <a:lnSpc>
                          <a:spcPct val="115000"/>
                        </a:lnSpc>
                        <a:spcBef>
                          <a:spcPts val="0"/>
                        </a:spcBef>
                        <a:spcAft>
                          <a:spcPts val="0"/>
                        </a:spcAft>
                      </a:pPr>
                      <a:r>
                        <a:rPr lang="en-US" sz="1600">
                          <a:effectLst/>
                        </a:rPr>
                        <a:t>Name</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600">
                          <a:effectLst/>
                        </a:rPr>
                        <a:t>Data Type</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600">
                          <a:effectLst/>
                        </a:rPr>
                        <a:t>Constrain</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600">
                          <a:effectLst/>
                        </a:rPr>
                        <a:t>Description</a:t>
                      </a:r>
                      <a:endParaRPr lang="en-US" sz="1100">
                        <a:effectLst/>
                        <a:latin typeface="Calibri"/>
                        <a:ea typeface="Calibri"/>
                        <a:cs typeface="Arial"/>
                      </a:endParaRPr>
                    </a:p>
                  </a:txBody>
                  <a:tcPr marL="68580" marR="68580" marT="0" marB="0"/>
                </a:tc>
              </a:tr>
              <a:tr h="0">
                <a:tc>
                  <a:txBody>
                    <a:bodyPr/>
                    <a:lstStyle/>
                    <a:p>
                      <a:pPr marL="0" marR="0">
                        <a:lnSpc>
                          <a:spcPct val="115000"/>
                        </a:lnSpc>
                        <a:spcBef>
                          <a:spcPts val="0"/>
                        </a:spcBef>
                        <a:spcAft>
                          <a:spcPts val="0"/>
                        </a:spcAft>
                      </a:pPr>
                      <a:r>
                        <a:rPr lang="en-US" sz="1400">
                          <a:effectLst/>
                        </a:rPr>
                        <a:t>sno</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Not null</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Store supplier no</a:t>
                      </a:r>
                      <a:endParaRPr lang="en-US" sz="1100">
                        <a:effectLst/>
                        <a:latin typeface="Calibri"/>
                        <a:ea typeface="Calibri"/>
                        <a:cs typeface="Arial"/>
                      </a:endParaRPr>
                    </a:p>
                  </a:txBody>
                  <a:tcPr marL="68580" marR="68580" marT="0" marB="0"/>
                </a:tc>
              </a:tr>
              <a:tr h="0">
                <a:tc>
                  <a:txBody>
                    <a:bodyPr/>
                    <a:lstStyle/>
                    <a:p>
                      <a:pPr marL="0" marR="0">
                        <a:lnSpc>
                          <a:spcPct val="115000"/>
                        </a:lnSpc>
                        <a:spcBef>
                          <a:spcPts val="0"/>
                        </a:spcBef>
                        <a:spcAft>
                          <a:spcPts val="0"/>
                        </a:spcAft>
                      </a:pPr>
                      <a:r>
                        <a:rPr lang="en-US" sz="1400">
                          <a:effectLst/>
                        </a:rPr>
                        <a:t>sname</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Store supplier name</a:t>
                      </a:r>
                      <a:endParaRPr lang="en-US" sz="1100">
                        <a:effectLst/>
                        <a:latin typeface="Calibri"/>
                        <a:ea typeface="Calibri"/>
                        <a:cs typeface="Arial"/>
                      </a:endParaRPr>
                    </a:p>
                  </a:txBody>
                  <a:tcPr marL="68580" marR="68580" marT="0" marB="0"/>
                </a:tc>
              </a:tr>
              <a:tr h="0">
                <a:tc>
                  <a:txBody>
                    <a:bodyPr/>
                    <a:lstStyle/>
                    <a:p>
                      <a:pPr marL="0" marR="0">
                        <a:lnSpc>
                          <a:spcPct val="115000"/>
                        </a:lnSpc>
                        <a:spcBef>
                          <a:spcPts val="0"/>
                        </a:spcBef>
                        <a:spcAft>
                          <a:spcPts val="0"/>
                        </a:spcAft>
                      </a:pPr>
                      <a:r>
                        <a:rPr lang="en-US" sz="1400">
                          <a:effectLst/>
                        </a:rPr>
                        <a:t>saddr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Store supplier address</a:t>
                      </a:r>
                      <a:endParaRPr lang="en-US" sz="1100">
                        <a:effectLst/>
                        <a:latin typeface="Calibri"/>
                        <a:ea typeface="Calibri"/>
                        <a:cs typeface="Arial"/>
                      </a:endParaRPr>
                    </a:p>
                  </a:txBody>
                  <a:tcPr marL="68580" marR="68580" marT="0" marB="0"/>
                </a:tc>
              </a:tr>
              <a:tr h="0">
                <a:tc>
                  <a:txBody>
                    <a:bodyPr/>
                    <a:lstStyle/>
                    <a:p>
                      <a:pPr marL="0" marR="0">
                        <a:lnSpc>
                          <a:spcPct val="115000"/>
                        </a:lnSpc>
                        <a:spcBef>
                          <a:spcPts val="0"/>
                        </a:spcBef>
                        <a:spcAft>
                          <a:spcPts val="0"/>
                        </a:spcAft>
                      </a:pPr>
                      <a:r>
                        <a:rPr lang="en-US" sz="1400">
                          <a:effectLst/>
                        </a:rPr>
                        <a:t>sphone</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dirty="0">
                          <a:effectLst/>
                        </a:rPr>
                        <a:t>Store supplier phone</a:t>
                      </a:r>
                      <a:endParaRPr lang="en-US" sz="1100" dirty="0">
                        <a:effectLst/>
                        <a:latin typeface="Calibri"/>
                        <a:ea typeface="Calibri"/>
                        <a:cs typeface="Arial"/>
                      </a:endParaRPr>
                    </a:p>
                  </a:txBody>
                  <a:tcPr marL="68580" marR="68580" marT="0" marB="0"/>
                </a:tc>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3077615188"/>
              </p:ext>
            </p:extLst>
          </p:nvPr>
        </p:nvGraphicFramePr>
        <p:xfrm>
          <a:off x="1600200" y="2562700"/>
          <a:ext cx="5943600" cy="1822704"/>
        </p:xfrm>
        <a:graphic>
          <a:graphicData uri="http://schemas.openxmlformats.org/drawingml/2006/table">
            <a:tbl>
              <a:tblPr firstRow="1" firstCol="1" bandRow="1">
                <a:tableStyleId>{5C22544A-7EE6-4342-B048-85BDC9FD1C3A}</a:tableStyleId>
              </a:tblPr>
              <a:tblGrid>
                <a:gridCol w="828040"/>
                <a:gridCol w="1317625"/>
                <a:gridCol w="1200150"/>
                <a:gridCol w="2597785"/>
              </a:tblGrid>
              <a:tr h="0">
                <a:tc gridSpan="4">
                  <a:txBody>
                    <a:bodyPr/>
                    <a:lstStyle/>
                    <a:p>
                      <a:pPr marL="0" marR="0" algn="ctr">
                        <a:lnSpc>
                          <a:spcPct val="115000"/>
                        </a:lnSpc>
                        <a:spcBef>
                          <a:spcPts val="0"/>
                        </a:spcBef>
                        <a:spcAft>
                          <a:spcPts val="0"/>
                        </a:spcAft>
                      </a:pPr>
                      <a:r>
                        <a:rPr lang="en-US" sz="1800" dirty="0">
                          <a:effectLst/>
                        </a:rPr>
                        <a:t>Product</a:t>
                      </a:r>
                      <a:endParaRPr lang="en-US" sz="1100" dirty="0">
                        <a:effectLst/>
                        <a:latin typeface="Calibri"/>
                        <a:ea typeface="Calibri"/>
                        <a:cs typeface="Arial"/>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r>
              <a:tr h="0">
                <a:tc>
                  <a:txBody>
                    <a:bodyPr/>
                    <a:lstStyle/>
                    <a:p>
                      <a:pPr marL="0" marR="0" algn="ctr">
                        <a:lnSpc>
                          <a:spcPct val="115000"/>
                        </a:lnSpc>
                        <a:spcBef>
                          <a:spcPts val="0"/>
                        </a:spcBef>
                        <a:spcAft>
                          <a:spcPts val="0"/>
                        </a:spcAft>
                      </a:pPr>
                      <a:r>
                        <a:rPr lang="en-US" sz="1600">
                          <a:effectLst/>
                        </a:rPr>
                        <a:t>Name</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600">
                          <a:effectLst/>
                        </a:rPr>
                        <a:t>Data Type</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600">
                          <a:effectLst/>
                        </a:rPr>
                        <a:t>Constrain</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600">
                          <a:effectLst/>
                        </a:rPr>
                        <a:t>Description</a:t>
                      </a:r>
                      <a:endParaRPr lang="en-US" sz="1100">
                        <a:effectLst/>
                        <a:latin typeface="Calibri"/>
                        <a:ea typeface="Calibri"/>
                        <a:cs typeface="Arial"/>
                      </a:endParaRPr>
                    </a:p>
                  </a:txBody>
                  <a:tcPr marL="68580" marR="68580" marT="0" marB="0"/>
                </a:tc>
              </a:tr>
              <a:tr h="0">
                <a:tc>
                  <a:txBody>
                    <a:bodyPr/>
                    <a:lstStyle/>
                    <a:p>
                      <a:pPr marL="0" marR="0">
                        <a:lnSpc>
                          <a:spcPct val="115000"/>
                        </a:lnSpc>
                        <a:spcBef>
                          <a:spcPts val="0"/>
                        </a:spcBef>
                        <a:spcAft>
                          <a:spcPts val="0"/>
                        </a:spcAft>
                      </a:pPr>
                      <a:r>
                        <a:rPr lang="en-US" sz="1400">
                          <a:effectLst/>
                        </a:rPr>
                        <a:t>pno</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Not null</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Store product number</a:t>
                      </a:r>
                      <a:endParaRPr lang="en-US" sz="1100">
                        <a:effectLst/>
                        <a:latin typeface="Calibri"/>
                        <a:ea typeface="Calibri"/>
                        <a:cs typeface="Arial"/>
                      </a:endParaRPr>
                    </a:p>
                  </a:txBody>
                  <a:tcPr marL="68580" marR="68580" marT="0" marB="0"/>
                </a:tc>
              </a:tr>
              <a:tr h="0">
                <a:tc>
                  <a:txBody>
                    <a:bodyPr/>
                    <a:lstStyle/>
                    <a:p>
                      <a:pPr marL="0" marR="0">
                        <a:lnSpc>
                          <a:spcPct val="115000"/>
                        </a:lnSpc>
                        <a:spcBef>
                          <a:spcPts val="0"/>
                        </a:spcBef>
                        <a:spcAft>
                          <a:spcPts val="0"/>
                        </a:spcAft>
                      </a:pPr>
                      <a:r>
                        <a:rPr lang="en-US" sz="1400">
                          <a:effectLst/>
                        </a:rPr>
                        <a:t>pname</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Store product name</a:t>
                      </a:r>
                      <a:endParaRPr lang="en-US" sz="1100">
                        <a:effectLst/>
                        <a:latin typeface="Calibri"/>
                        <a:ea typeface="Calibri"/>
                        <a:cs typeface="Arial"/>
                      </a:endParaRPr>
                    </a:p>
                  </a:txBody>
                  <a:tcPr marL="68580" marR="68580" marT="0" marB="0"/>
                </a:tc>
              </a:tr>
              <a:tr h="0">
                <a:tc>
                  <a:txBody>
                    <a:bodyPr/>
                    <a:lstStyle/>
                    <a:p>
                      <a:pPr marL="0" marR="0">
                        <a:lnSpc>
                          <a:spcPct val="115000"/>
                        </a:lnSpc>
                        <a:spcBef>
                          <a:spcPts val="0"/>
                        </a:spcBef>
                        <a:spcAft>
                          <a:spcPts val="0"/>
                        </a:spcAft>
                      </a:pPr>
                      <a:r>
                        <a:rPr lang="en-US" sz="1400">
                          <a:effectLst/>
                        </a:rPr>
                        <a:t>pdesc</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Store product description</a:t>
                      </a:r>
                      <a:endParaRPr lang="en-US" sz="1100">
                        <a:effectLst/>
                        <a:latin typeface="Calibri"/>
                        <a:ea typeface="Calibri"/>
                        <a:cs typeface="Arial"/>
                      </a:endParaRPr>
                    </a:p>
                  </a:txBody>
                  <a:tcPr marL="68580" marR="68580" marT="0" marB="0"/>
                </a:tc>
              </a:tr>
              <a:tr h="0">
                <a:tc>
                  <a:txBody>
                    <a:bodyPr/>
                    <a:lstStyle/>
                    <a:p>
                      <a:pPr marL="0" marR="0">
                        <a:lnSpc>
                          <a:spcPct val="115000"/>
                        </a:lnSpc>
                        <a:spcBef>
                          <a:spcPts val="0"/>
                        </a:spcBef>
                        <a:spcAft>
                          <a:spcPts val="0"/>
                        </a:spcAft>
                      </a:pPr>
                      <a:r>
                        <a:rPr lang="en-US" sz="1400">
                          <a:effectLst/>
                        </a:rPr>
                        <a:t>pqty</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Store quantity of product</a:t>
                      </a:r>
                      <a:endParaRPr lang="en-US" sz="1100">
                        <a:effectLst/>
                        <a:latin typeface="Calibri"/>
                        <a:ea typeface="Calibri"/>
                        <a:cs typeface="Arial"/>
                      </a:endParaRPr>
                    </a:p>
                  </a:txBody>
                  <a:tcPr marL="68580" marR="68580" marT="0" marB="0"/>
                </a:tc>
              </a:tr>
              <a:tr h="0">
                <a:tc>
                  <a:txBody>
                    <a:bodyPr/>
                    <a:lstStyle/>
                    <a:p>
                      <a:pPr marL="0" marR="0">
                        <a:lnSpc>
                          <a:spcPct val="115000"/>
                        </a:lnSpc>
                        <a:spcBef>
                          <a:spcPts val="0"/>
                        </a:spcBef>
                        <a:spcAft>
                          <a:spcPts val="0"/>
                        </a:spcAft>
                      </a:pPr>
                      <a:r>
                        <a:rPr lang="en-US" sz="1400">
                          <a:effectLst/>
                        </a:rPr>
                        <a:t>prate</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dirty="0">
                          <a:effectLst/>
                        </a:rPr>
                        <a:t>Store price of product</a:t>
                      </a:r>
                      <a:endParaRPr lang="en-US" sz="1100" dirty="0">
                        <a:effectLst/>
                        <a:latin typeface="Calibri"/>
                        <a:ea typeface="Calibri"/>
                        <a:cs typeface="Arial"/>
                      </a:endParaRPr>
                    </a:p>
                  </a:txBody>
                  <a:tcPr marL="68580" marR="68580" marT="0" marB="0"/>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964737695"/>
              </p:ext>
            </p:extLst>
          </p:nvPr>
        </p:nvGraphicFramePr>
        <p:xfrm>
          <a:off x="1600200" y="4953000"/>
          <a:ext cx="5943600" cy="1577340"/>
        </p:xfrm>
        <a:graphic>
          <a:graphicData uri="http://schemas.openxmlformats.org/drawingml/2006/table">
            <a:tbl>
              <a:tblPr firstRow="1" firstCol="1" bandRow="1">
                <a:tableStyleId>{5C22544A-7EE6-4342-B048-85BDC9FD1C3A}</a:tableStyleId>
              </a:tblPr>
              <a:tblGrid>
                <a:gridCol w="831215"/>
                <a:gridCol w="1314450"/>
                <a:gridCol w="1200150"/>
                <a:gridCol w="2597785"/>
              </a:tblGrid>
              <a:tr h="0">
                <a:tc gridSpan="4">
                  <a:txBody>
                    <a:bodyPr/>
                    <a:lstStyle/>
                    <a:p>
                      <a:pPr marL="0" marR="0" algn="ctr">
                        <a:lnSpc>
                          <a:spcPct val="115000"/>
                        </a:lnSpc>
                        <a:spcBef>
                          <a:spcPts val="0"/>
                        </a:spcBef>
                        <a:spcAft>
                          <a:spcPts val="0"/>
                        </a:spcAft>
                      </a:pPr>
                      <a:r>
                        <a:rPr lang="en-US" sz="1800" dirty="0">
                          <a:effectLst/>
                        </a:rPr>
                        <a:t>Customer</a:t>
                      </a:r>
                      <a:endParaRPr lang="en-US" sz="1100" dirty="0">
                        <a:effectLst/>
                        <a:latin typeface="Calibri"/>
                        <a:ea typeface="Calibri"/>
                        <a:cs typeface="Arial"/>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r>
              <a:tr h="0">
                <a:tc>
                  <a:txBody>
                    <a:bodyPr/>
                    <a:lstStyle/>
                    <a:p>
                      <a:pPr marL="0" marR="0" algn="ctr">
                        <a:lnSpc>
                          <a:spcPct val="115000"/>
                        </a:lnSpc>
                        <a:spcBef>
                          <a:spcPts val="0"/>
                        </a:spcBef>
                        <a:spcAft>
                          <a:spcPts val="0"/>
                        </a:spcAft>
                      </a:pPr>
                      <a:r>
                        <a:rPr lang="en-US" sz="1600">
                          <a:effectLst/>
                        </a:rPr>
                        <a:t>Name</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600">
                          <a:effectLst/>
                        </a:rPr>
                        <a:t>Data Type</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600">
                          <a:effectLst/>
                        </a:rPr>
                        <a:t>Constrain</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600">
                          <a:effectLst/>
                        </a:rPr>
                        <a:t>Description</a:t>
                      </a:r>
                      <a:endParaRPr lang="en-US" sz="1100">
                        <a:effectLst/>
                        <a:latin typeface="Calibri"/>
                        <a:ea typeface="Calibri"/>
                        <a:cs typeface="Arial"/>
                      </a:endParaRPr>
                    </a:p>
                  </a:txBody>
                  <a:tcPr marL="68580" marR="68580" marT="0" marB="0"/>
                </a:tc>
              </a:tr>
              <a:tr h="0">
                <a:tc>
                  <a:txBody>
                    <a:bodyPr/>
                    <a:lstStyle/>
                    <a:p>
                      <a:pPr marL="0" marR="0">
                        <a:lnSpc>
                          <a:spcPct val="115000"/>
                        </a:lnSpc>
                        <a:spcBef>
                          <a:spcPts val="0"/>
                        </a:spcBef>
                        <a:spcAft>
                          <a:spcPts val="0"/>
                        </a:spcAft>
                      </a:pPr>
                      <a:r>
                        <a:rPr lang="en-US" sz="1400">
                          <a:effectLst/>
                        </a:rPr>
                        <a:t>cno</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Not null</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Store customer number</a:t>
                      </a:r>
                      <a:endParaRPr lang="en-US" sz="1100">
                        <a:effectLst/>
                        <a:latin typeface="Calibri"/>
                        <a:ea typeface="Calibri"/>
                        <a:cs typeface="Arial"/>
                      </a:endParaRPr>
                    </a:p>
                  </a:txBody>
                  <a:tcPr marL="68580" marR="68580" marT="0" marB="0"/>
                </a:tc>
              </a:tr>
              <a:tr h="0">
                <a:tc>
                  <a:txBody>
                    <a:bodyPr/>
                    <a:lstStyle/>
                    <a:p>
                      <a:pPr marL="0" marR="0">
                        <a:lnSpc>
                          <a:spcPct val="115000"/>
                        </a:lnSpc>
                        <a:spcBef>
                          <a:spcPts val="0"/>
                        </a:spcBef>
                        <a:spcAft>
                          <a:spcPts val="0"/>
                        </a:spcAft>
                      </a:pPr>
                      <a:r>
                        <a:rPr lang="en-US" sz="1400">
                          <a:effectLst/>
                        </a:rPr>
                        <a:t>cname</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Store customer name</a:t>
                      </a:r>
                      <a:endParaRPr lang="en-US" sz="1100">
                        <a:effectLst/>
                        <a:latin typeface="Calibri"/>
                        <a:ea typeface="Calibri"/>
                        <a:cs typeface="Arial"/>
                      </a:endParaRPr>
                    </a:p>
                  </a:txBody>
                  <a:tcPr marL="68580" marR="68580" marT="0" marB="0"/>
                </a:tc>
              </a:tr>
              <a:tr h="0">
                <a:tc>
                  <a:txBody>
                    <a:bodyPr/>
                    <a:lstStyle/>
                    <a:p>
                      <a:pPr marL="0" marR="0">
                        <a:lnSpc>
                          <a:spcPct val="115000"/>
                        </a:lnSpc>
                        <a:spcBef>
                          <a:spcPts val="0"/>
                        </a:spcBef>
                        <a:spcAft>
                          <a:spcPts val="0"/>
                        </a:spcAft>
                      </a:pPr>
                      <a:r>
                        <a:rPr lang="en-US" sz="1400">
                          <a:effectLst/>
                        </a:rPr>
                        <a:t>caddr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Store customer address</a:t>
                      </a:r>
                      <a:endParaRPr lang="en-US" sz="1100">
                        <a:effectLst/>
                        <a:latin typeface="Calibri"/>
                        <a:ea typeface="Calibri"/>
                        <a:cs typeface="Arial"/>
                      </a:endParaRPr>
                    </a:p>
                  </a:txBody>
                  <a:tcPr marL="68580" marR="68580" marT="0" marB="0"/>
                </a:tc>
              </a:tr>
              <a:tr h="0">
                <a:tc>
                  <a:txBody>
                    <a:bodyPr/>
                    <a:lstStyle/>
                    <a:p>
                      <a:pPr marL="0" marR="0">
                        <a:lnSpc>
                          <a:spcPct val="115000"/>
                        </a:lnSpc>
                        <a:spcBef>
                          <a:spcPts val="0"/>
                        </a:spcBef>
                        <a:spcAft>
                          <a:spcPts val="0"/>
                        </a:spcAft>
                      </a:pPr>
                      <a:r>
                        <a:rPr lang="en-US" sz="1400">
                          <a:effectLst/>
                        </a:rPr>
                        <a:t>cpnone</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dirty="0">
                          <a:effectLst/>
                        </a:rPr>
                        <a:t>Store customer phone</a:t>
                      </a:r>
                      <a:endParaRPr lang="en-US" sz="1100" dirty="0">
                        <a:effectLst/>
                        <a:latin typeface="Calibri"/>
                        <a:ea typeface="Calibri"/>
                        <a:cs typeface="Arial"/>
                      </a:endParaRPr>
                    </a:p>
                  </a:txBody>
                  <a:tcPr marL="68580" marR="68580" marT="0" marB="0"/>
                </a:tc>
              </a:tr>
            </a:tbl>
          </a:graphicData>
        </a:graphic>
      </p:graphicFrame>
    </p:spTree>
    <p:extLst>
      <p:ext uri="{BB962C8B-B14F-4D97-AF65-F5344CB8AC3E}">
        <p14:creationId xmlns:p14="http://schemas.microsoft.com/office/powerpoint/2010/main" val="8539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647106268"/>
              </p:ext>
            </p:extLst>
          </p:nvPr>
        </p:nvGraphicFramePr>
        <p:xfrm>
          <a:off x="333375" y="752469"/>
          <a:ext cx="8477249" cy="5353061"/>
        </p:xfrm>
        <a:graphic>
          <a:graphicData uri="http://schemas.openxmlformats.org/drawingml/2006/table">
            <a:tbl>
              <a:tblPr firstRow="1" firstCol="1" bandRow="1">
                <a:tableStyleId>{5C22544A-7EE6-4342-B048-85BDC9FD1C3A}</a:tableStyleId>
              </a:tblPr>
              <a:tblGrid>
                <a:gridCol w="1467216"/>
                <a:gridCol w="1956288"/>
                <a:gridCol w="1793264"/>
                <a:gridCol w="3260481"/>
              </a:tblGrid>
              <a:tr h="403948">
                <a:tc gridSpan="4">
                  <a:txBody>
                    <a:bodyPr/>
                    <a:lstStyle/>
                    <a:p>
                      <a:pPr marL="0" marR="0" algn="ctr">
                        <a:lnSpc>
                          <a:spcPct val="115000"/>
                        </a:lnSpc>
                        <a:spcBef>
                          <a:spcPts val="0"/>
                        </a:spcBef>
                        <a:spcAft>
                          <a:spcPts val="0"/>
                        </a:spcAft>
                      </a:pPr>
                      <a:r>
                        <a:rPr lang="en-US" sz="1600" dirty="0">
                          <a:effectLst/>
                        </a:rPr>
                        <a:t>Purchase</a:t>
                      </a:r>
                      <a:endParaRPr lang="en-US" sz="1100" dirty="0">
                        <a:effectLst/>
                        <a:latin typeface="Calibri"/>
                        <a:ea typeface="Calibri"/>
                        <a:cs typeface="Arial"/>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r>
              <a:tr h="403948">
                <a:tc>
                  <a:txBody>
                    <a:bodyPr/>
                    <a:lstStyle/>
                    <a:p>
                      <a:pPr marL="0" marR="0" algn="ctr">
                        <a:lnSpc>
                          <a:spcPct val="115000"/>
                        </a:lnSpc>
                        <a:spcBef>
                          <a:spcPts val="0"/>
                        </a:spcBef>
                        <a:spcAft>
                          <a:spcPts val="0"/>
                        </a:spcAft>
                      </a:pPr>
                      <a:r>
                        <a:rPr lang="en-US" sz="1600">
                          <a:effectLst/>
                        </a:rPr>
                        <a:t>Name</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600">
                          <a:effectLst/>
                        </a:rPr>
                        <a:t>Data Type</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600">
                          <a:effectLst/>
                        </a:rPr>
                        <a:t>Constrain</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600">
                          <a:effectLst/>
                        </a:rPr>
                        <a:t>Description</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trans_no</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Not null</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Store name</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Sno</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Not null</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Store age</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Sname</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Store gender</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Billno</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Store email id</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Date</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Store phone number</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ino1</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Store item no</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iname1</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Store item name</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iqty1</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Store item quantity</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irt1</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Store item rate</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iramt1</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Store item amount</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ino2</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Store item no</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iname2</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Store item name</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iqty2</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dirty="0">
                          <a:effectLst/>
                        </a:rPr>
                        <a:t>Store item quantity</a:t>
                      </a:r>
                      <a:endParaRPr lang="en-US" sz="1100" dirty="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irt2</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Store item rate</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iramt2</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dirty="0">
                          <a:effectLst/>
                        </a:rPr>
                        <a:t>Store item amount</a:t>
                      </a:r>
                      <a:endParaRPr lang="en-US" sz="1100" dirty="0">
                        <a:effectLst/>
                        <a:latin typeface="Calibri"/>
                        <a:ea typeface="Calibri"/>
                        <a:cs typeface="Arial"/>
                      </a:endParaRPr>
                    </a:p>
                  </a:txBody>
                  <a:tcPr marL="68580" marR="68580" marT="0" marB="0"/>
                </a:tc>
              </a:tr>
            </a:tbl>
          </a:graphicData>
        </a:graphic>
      </p:graphicFrame>
    </p:spTree>
    <p:extLst>
      <p:ext uri="{BB962C8B-B14F-4D97-AF65-F5344CB8AC3E}">
        <p14:creationId xmlns:p14="http://schemas.microsoft.com/office/powerpoint/2010/main" val="3850450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13131860"/>
              </p:ext>
            </p:extLst>
          </p:nvPr>
        </p:nvGraphicFramePr>
        <p:xfrm>
          <a:off x="419100" y="714216"/>
          <a:ext cx="8305800" cy="5429568"/>
        </p:xfrm>
        <a:graphic>
          <a:graphicData uri="http://schemas.openxmlformats.org/drawingml/2006/table">
            <a:tbl>
              <a:tblPr firstRow="1" firstCol="1" bandRow="1">
                <a:tableStyleId>{5C22544A-7EE6-4342-B048-85BDC9FD1C3A}</a:tableStyleId>
              </a:tblPr>
              <a:tblGrid>
                <a:gridCol w="1437543"/>
                <a:gridCol w="1916723"/>
                <a:gridCol w="1756996"/>
                <a:gridCol w="3194538"/>
              </a:tblGrid>
              <a:tr h="339348">
                <a:tc gridSpan="4">
                  <a:txBody>
                    <a:bodyPr/>
                    <a:lstStyle/>
                    <a:p>
                      <a:pPr marL="0" marR="0" algn="ctr">
                        <a:lnSpc>
                          <a:spcPct val="115000"/>
                        </a:lnSpc>
                        <a:spcBef>
                          <a:spcPts val="0"/>
                        </a:spcBef>
                        <a:spcAft>
                          <a:spcPts val="0"/>
                        </a:spcAft>
                      </a:pPr>
                      <a:r>
                        <a:rPr lang="en-US" sz="1250">
                          <a:effectLst/>
                        </a:rPr>
                        <a:t>Sales</a:t>
                      </a:r>
                      <a:endParaRPr lang="en-US" sz="1100">
                        <a:effectLst/>
                        <a:latin typeface="Calibri"/>
                        <a:ea typeface="Calibri"/>
                        <a:cs typeface="Arial"/>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r>
              <a:tr h="339348">
                <a:tc>
                  <a:txBody>
                    <a:bodyPr/>
                    <a:lstStyle/>
                    <a:p>
                      <a:pPr marL="0" marR="0" algn="ctr">
                        <a:lnSpc>
                          <a:spcPct val="115000"/>
                        </a:lnSpc>
                        <a:spcBef>
                          <a:spcPts val="0"/>
                        </a:spcBef>
                        <a:spcAft>
                          <a:spcPts val="0"/>
                        </a:spcAft>
                      </a:pPr>
                      <a:r>
                        <a:rPr lang="en-US" sz="1250">
                          <a:effectLst/>
                        </a:rPr>
                        <a:t>Name</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250">
                          <a:effectLst/>
                        </a:rPr>
                        <a:t>Data Type</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250">
                          <a:effectLst/>
                        </a:rPr>
                        <a:t>Constrain</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250">
                          <a:effectLst/>
                        </a:rPr>
                        <a:t>Description</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billno</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Not null</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Store name</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cno</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Not null</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Store age</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cname</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Store gender</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date</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Store phone number</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ino1</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Store item no</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iname1</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Store item name</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iqty1</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Store item quantity</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irt1</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Store item rate</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iramt1</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Store item amount</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ino2</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Store item no</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iname2</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Store item name</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iqty2</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Store item quantity</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irt2</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Store item rate</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iramt2</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dirty="0">
                          <a:effectLst/>
                        </a:rPr>
                        <a:t>Store item amount</a:t>
                      </a:r>
                      <a:endParaRPr lang="en-US" sz="1100" dirty="0">
                        <a:effectLst/>
                        <a:latin typeface="Calibri"/>
                        <a:ea typeface="Calibri"/>
                        <a:cs typeface="Arial"/>
                      </a:endParaRPr>
                    </a:p>
                  </a:txBody>
                  <a:tcPr marL="68580" marR="68580" marT="0" marB="0"/>
                </a:tc>
              </a:tr>
            </a:tbl>
          </a:graphicData>
        </a:graphic>
      </p:graphicFrame>
    </p:spTree>
    <p:extLst>
      <p:ext uri="{BB962C8B-B14F-4D97-AF65-F5344CB8AC3E}">
        <p14:creationId xmlns:p14="http://schemas.microsoft.com/office/powerpoint/2010/main" val="24179898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38352" y="333829"/>
            <a:ext cx="5867312" cy="923330"/>
          </a:xfrm>
          <a:prstGeom prst="rect">
            <a:avLst/>
          </a:prstGeom>
        </p:spPr>
        <p:txBody>
          <a:bodyPr wrap="none">
            <a:spAutoFit/>
          </a:bodyPr>
          <a:lstStyle/>
          <a:p>
            <a:pPr algn="ctr"/>
            <a:r>
              <a:rPr lang="en-US" sz="5400" b="1" dirty="0" smtClean="0">
                <a:latin typeface="Viner Hand ITC" pitchFamily="66" charset="0"/>
              </a:rPr>
              <a:t>Use Case Diagram</a:t>
            </a:r>
            <a:endParaRPr lang="en-US" sz="5400" b="1" dirty="0">
              <a:latin typeface="Viner Hand ITC" pitchFamily="66" charset="0"/>
            </a:endParaRPr>
          </a:p>
        </p:txBody>
      </p:sp>
      <p:pic>
        <p:nvPicPr>
          <p:cNvPr id="3" name="Picture 2"/>
          <p:cNvPicPr/>
          <p:nvPr/>
        </p:nvPicPr>
        <p:blipFill rotWithShape="1">
          <a:blip r:embed="rId2">
            <a:extLst>
              <a:ext uri="{28A0092B-C50C-407E-A947-70E740481C1C}">
                <a14:useLocalDpi xmlns:a14="http://schemas.microsoft.com/office/drawing/2010/main" val="0"/>
              </a:ext>
            </a:extLst>
          </a:blip>
          <a:srcRect t="5989" b="5451"/>
          <a:stretch/>
        </p:blipFill>
        <p:spPr>
          <a:xfrm>
            <a:off x="1705927" y="1676400"/>
            <a:ext cx="5732145" cy="4804228"/>
          </a:xfrm>
          <a:prstGeom prst="rect">
            <a:avLst/>
          </a:prstGeom>
        </p:spPr>
      </p:pic>
    </p:spTree>
    <p:extLst>
      <p:ext uri="{BB962C8B-B14F-4D97-AF65-F5344CB8AC3E}">
        <p14:creationId xmlns:p14="http://schemas.microsoft.com/office/powerpoint/2010/main" val="2823701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53525" y="304800"/>
            <a:ext cx="5036956" cy="1107996"/>
          </a:xfrm>
          <a:prstGeom prst="rect">
            <a:avLst/>
          </a:prstGeom>
        </p:spPr>
        <p:txBody>
          <a:bodyPr wrap="none">
            <a:spAutoFit/>
          </a:bodyPr>
          <a:lstStyle/>
          <a:p>
            <a:pPr algn="ctr"/>
            <a:r>
              <a:rPr lang="en-US" sz="6600" b="1" dirty="0">
                <a:latin typeface="Viner Hand ITC" pitchFamily="66" charset="0"/>
              </a:rPr>
              <a:t>ER Diagram</a:t>
            </a:r>
          </a:p>
        </p:txBody>
      </p:sp>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1705930" y="2362200"/>
            <a:ext cx="5732145" cy="4114800"/>
          </a:xfrm>
          <a:prstGeom prst="rect">
            <a:avLst/>
          </a:prstGeom>
        </p:spPr>
      </p:pic>
      <p:sp>
        <p:nvSpPr>
          <p:cNvPr id="4" name="Rectangle 3"/>
          <p:cNvSpPr/>
          <p:nvPr/>
        </p:nvSpPr>
        <p:spPr>
          <a:xfrm>
            <a:off x="3388026" y="1752600"/>
            <a:ext cx="2367956" cy="461665"/>
          </a:xfrm>
          <a:prstGeom prst="rect">
            <a:avLst/>
          </a:prstGeom>
        </p:spPr>
        <p:txBody>
          <a:bodyPr wrap="none">
            <a:spAutoFit/>
          </a:bodyPr>
          <a:lstStyle/>
          <a:p>
            <a:pPr algn="ctr"/>
            <a:r>
              <a:rPr lang="en-US" sz="2400" b="1" dirty="0" smtClean="0">
                <a:latin typeface="Viner Hand ITC" pitchFamily="66" charset="0"/>
              </a:rPr>
              <a:t>Zero Level DFD</a:t>
            </a:r>
            <a:endParaRPr lang="en-US" sz="2400" b="1" dirty="0">
              <a:latin typeface="Viner Hand ITC" pitchFamily="66" charset="0"/>
            </a:endParaRPr>
          </a:p>
        </p:txBody>
      </p:sp>
    </p:spTree>
    <p:extLst>
      <p:ext uri="{BB962C8B-B14F-4D97-AF65-F5344CB8AC3E}">
        <p14:creationId xmlns:p14="http://schemas.microsoft.com/office/powerpoint/2010/main" val="2784136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33520" y="1603829"/>
            <a:ext cx="2476960" cy="461665"/>
          </a:xfrm>
          <a:prstGeom prst="rect">
            <a:avLst/>
          </a:prstGeom>
        </p:spPr>
        <p:txBody>
          <a:bodyPr wrap="none">
            <a:spAutoFit/>
          </a:bodyPr>
          <a:lstStyle/>
          <a:p>
            <a:pPr algn="ctr"/>
            <a:r>
              <a:rPr lang="en-US" sz="2400" b="1" dirty="0" smtClean="0">
                <a:latin typeface="Viner Hand ITC" pitchFamily="66" charset="0"/>
              </a:rPr>
              <a:t>First Level DFD</a:t>
            </a:r>
            <a:r>
              <a:rPr lang="en-US" b="1" dirty="0" smtClean="0">
                <a:latin typeface="Viner Hand ITC" pitchFamily="66" charset="0"/>
              </a:rPr>
              <a:t> </a:t>
            </a:r>
            <a:endParaRPr lang="en-US" b="1" dirty="0">
              <a:latin typeface="Viner Hand ITC" pitchFamily="66" charset="0"/>
            </a:endParaRPr>
          </a:p>
        </p:txBody>
      </p:sp>
      <p:cxnSp>
        <p:nvCxnSpPr>
          <p:cNvPr id="6" name="Straight Arrow Connector 5"/>
          <p:cNvCxnSpPr/>
          <p:nvPr/>
        </p:nvCxnSpPr>
        <p:spPr>
          <a:xfrm>
            <a:off x="4572000" y="2209800"/>
            <a:ext cx="0" cy="4191000"/>
          </a:xfrm>
          <a:prstGeom prst="straightConnector1">
            <a:avLst/>
          </a:prstGeom>
          <a:ln w="762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0318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cstate="print">
            <a:extLst>
              <a:ext uri="{28A0092B-C50C-407E-A947-70E740481C1C}">
                <a14:useLocalDpi xmlns:a14="http://schemas.microsoft.com/office/drawing/2010/main" val="0"/>
              </a:ext>
            </a:extLst>
          </a:blip>
          <a:stretch>
            <a:fillRect/>
          </a:stretch>
        </p:blipFill>
        <p:spPr>
          <a:xfrm>
            <a:off x="2526392" y="0"/>
            <a:ext cx="4076700" cy="6858000"/>
          </a:xfrm>
          <a:prstGeom prst="rect">
            <a:avLst/>
          </a:prstGeom>
        </p:spPr>
      </p:pic>
    </p:spTree>
    <p:extLst>
      <p:ext uri="{BB962C8B-B14F-4D97-AF65-F5344CB8AC3E}">
        <p14:creationId xmlns:p14="http://schemas.microsoft.com/office/powerpoint/2010/main" val="3219137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tretch>
            <a:fillRect/>
          </a:stretch>
        </p:blipFill>
        <p:spPr>
          <a:xfrm>
            <a:off x="1705927" y="1981200"/>
            <a:ext cx="5732145" cy="4269740"/>
          </a:xfrm>
          <a:prstGeom prst="rect">
            <a:avLst/>
          </a:prstGeom>
        </p:spPr>
      </p:pic>
      <p:sp>
        <p:nvSpPr>
          <p:cNvPr id="3" name="Rectangle 2"/>
          <p:cNvSpPr/>
          <p:nvPr/>
        </p:nvSpPr>
        <p:spPr>
          <a:xfrm>
            <a:off x="2476207" y="457200"/>
            <a:ext cx="4155305" cy="923330"/>
          </a:xfrm>
          <a:prstGeom prst="rect">
            <a:avLst/>
          </a:prstGeom>
        </p:spPr>
        <p:txBody>
          <a:bodyPr wrap="none">
            <a:spAutoFit/>
          </a:bodyPr>
          <a:lstStyle/>
          <a:p>
            <a:pPr algn="ctr"/>
            <a:r>
              <a:rPr lang="en-US" sz="5400" b="1" dirty="0" smtClean="0">
                <a:latin typeface="Viner Hand ITC" pitchFamily="66" charset="0"/>
              </a:rPr>
              <a:t>ER Diagram</a:t>
            </a:r>
            <a:endParaRPr lang="en-US" sz="5400" b="1" dirty="0">
              <a:latin typeface="Viner Hand ITC" pitchFamily="66" charset="0"/>
            </a:endParaRPr>
          </a:p>
        </p:txBody>
      </p:sp>
    </p:spTree>
    <p:extLst>
      <p:ext uri="{BB962C8B-B14F-4D97-AF65-F5344CB8AC3E}">
        <p14:creationId xmlns:p14="http://schemas.microsoft.com/office/powerpoint/2010/main" val="37747609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extLst>
              <a:ext uri="{28A0092B-C50C-407E-A947-70E740481C1C}">
                <a14:useLocalDpi xmlns:a14="http://schemas.microsoft.com/office/drawing/2010/main" val="0"/>
              </a:ext>
            </a:extLst>
          </a:blip>
          <a:srcRect t="23017" b="18644"/>
          <a:stretch/>
        </p:blipFill>
        <p:spPr>
          <a:xfrm>
            <a:off x="647700" y="1405758"/>
            <a:ext cx="7848600" cy="4918842"/>
          </a:xfrm>
          <a:prstGeom prst="rect">
            <a:avLst/>
          </a:prstGeom>
        </p:spPr>
      </p:pic>
      <p:sp>
        <p:nvSpPr>
          <p:cNvPr id="3" name="Rectangle 2"/>
          <p:cNvSpPr/>
          <p:nvPr/>
        </p:nvSpPr>
        <p:spPr>
          <a:xfrm>
            <a:off x="1519215" y="457200"/>
            <a:ext cx="6069290" cy="923330"/>
          </a:xfrm>
          <a:prstGeom prst="rect">
            <a:avLst/>
          </a:prstGeom>
        </p:spPr>
        <p:txBody>
          <a:bodyPr wrap="none">
            <a:spAutoFit/>
          </a:bodyPr>
          <a:lstStyle/>
          <a:p>
            <a:pPr algn="ctr"/>
            <a:r>
              <a:rPr lang="en-US" sz="5400" b="1" dirty="0" smtClean="0">
                <a:latin typeface="Viner Hand ITC" pitchFamily="66" charset="0"/>
              </a:rPr>
              <a:t>Activity Diagram</a:t>
            </a:r>
            <a:endParaRPr lang="en-US" sz="5400" b="1" dirty="0">
              <a:latin typeface="Viner Hand ITC" pitchFamily="66" charset="0"/>
            </a:endParaRPr>
          </a:p>
        </p:txBody>
      </p:sp>
    </p:spTree>
    <p:extLst>
      <p:ext uri="{BB962C8B-B14F-4D97-AF65-F5344CB8AC3E}">
        <p14:creationId xmlns:p14="http://schemas.microsoft.com/office/powerpoint/2010/main" val="36485221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extLst>
              <a:ext uri="{28A0092B-C50C-407E-A947-70E740481C1C}">
                <a14:useLocalDpi xmlns:a14="http://schemas.microsoft.com/office/drawing/2010/main" val="0"/>
              </a:ext>
            </a:extLst>
          </a:blip>
          <a:srcRect t="19324" b="17168"/>
          <a:stretch/>
        </p:blipFill>
        <p:spPr>
          <a:xfrm>
            <a:off x="952500" y="1380530"/>
            <a:ext cx="7239000" cy="4966138"/>
          </a:xfrm>
          <a:prstGeom prst="rect">
            <a:avLst/>
          </a:prstGeom>
        </p:spPr>
      </p:pic>
      <p:sp>
        <p:nvSpPr>
          <p:cNvPr id="3" name="Rectangle 2"/>
          <p:cNvSpPr/>
          <p:nvPr/>
        </p:nvSpPr>
        <p:spPr>
          <a:xfrm>
            <a:off x="2199690" y="457200"/>
            <a:ext cx="4708341" cy="923330"/>
          </a:xfrm>
          <a:prstGeom prst="rect">
            <a:avLst/>
          </a:prstGeom>
        </p:spPr>
        <p:txBody>
          <a:bodyPr wrap="none">
            <a:spAutoFit/>
          </a:bodyPr>
          <a:lstStyle/>
          <a:p>
            <a:pPr algn="ctr"/>
            <a:r>
              <a:rPr lang="en-US" sz="5400" b="1" dirty="0" err="1" smtClean="0">
                <a:latin typeface="Viner Hand ITC" pitchFamily="66" charset="0"/>
              </a:rPr>
              <a:t>ClassDiagram</a:t>
            </a:r>
            <a:endParaRPr lang="en-US" sz="5400" b="1" dirty="0">
              <a:latin typeface="Viner Hand ITC" pitchFamily="66" charset="0"/>
            </a:endParaRPr>
          </a:p>
        </p:txBody>
      </p:sp>
    </p:spTree>
    <p:extLst>
      <p:ext uri="{BB962C8B-B14F-4D97-AF65-F5344CB8AC3E}">
        <p14:creationId xmlns:p14="http://schemas.microsoft.com/office/powerpoint/2010/main" val="2553430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extLst>
              <a:ext uri="{28A0092B-C50C-407E-A947-70E740481C1C}">
                <a14:useLocalDpi xmlns:a14="http://schemas.microsoft.com/office/drawing/2010/main" val="0"/>
              </a:ext>
            </a:extLst>
          </a:blip>
          <a:srcRect t="17478" b="21597"/>
          <a:stretch/>
        </p:blipFill>
        <p:spPr>
          <a:xfrm>
            <a:off x="762000" y="1676400"/>
            <a:ext cx="7620000" cy="4572000"/>
          </a:xfrm>
          <a:prstGeom prst="rect">
            <a:avLst/>
          </a:prstGeom>
        </p:spPr>
      </p:pic>
      <p:sp>
        <p:nvSpPr>
          <p:cNvPr id="3" name="Rectangle 2"/>
          <p:cNvSpPr/>
          <p:nvPr/>
        </p:nvSpPr>
        <p:spPr>
          <a:xfrm>
            <a:off x="1009462" y="457200"/>
            <a:ext cx="7088800" cy="923330"/>
          </a:xfrm>
          <a:prstGeom prst="rect">
            <a:avLst/>
          </a:prstGeom>
        </p:spPr>
        <p:txBody>
          <a:bodyPr wrap="none">
            <a:spAutoFit/>
          </a:bodyPr>
          <a:lstStyle/>
          <a:p>
            <a:pPr algn="ctr"/>
            <a:r>
              <a:rPr lang="en-US" sz="5400" b="1" dirty="0" smtClean="0">
                <a:latin typeface="Viner Hand ITC" pitchFamily="66" charset="0"/>
              </a:rPr>
              <a:t>Deployment Diagram</a:t>
            </a:r>
            <a:endParaRPr lang="en-US" sz="5400" b="1" dirty="0">
              <a:latin typeface="Viner Hand ITC" pitchFamily="66" charset="0"/>
            </a:endParaRPr>
          </a:p>
        </p:txBody>
      </p:sp>
    </p:spTree>
    <p:extLst>
      <p:ext uri="{BB962C8B-B14F-4D97-AF65-F5344CB8AC3E}">
        <p14:creationId xmlns:p14="http://schemas.microsoft.com/office/powerpoint/2010/main" val="18592227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99886" y="446544"/>
            <a:ext cx="7315200" cy="6155531"/>
          </a:xfrm>
          <a:prstGeom prst="rect">
            <a:avLst/>
          </a:prstGeom>
        </p:spPr>
        <p:txBody>
          <a:bodyPr wrap="square">
            <a:spAutoFit/>
          </a:bodyPr>
          <a:lstStyle/>
          <a:p>
            <a:pPr algn="ctr"/>
            <a:r>
              <a:rPr lang="en-US" sz="5400" b="1" dirty="0">
                <a:latin typeface="Viner Hand ITC" pitchFamily="66" charset="0"/>
              </a:rPr>
              <a:t>Conclusion</a:t>
            </a:r>
            <a:endParaRPr lang="en-US" sz="5400" dirty="0">
              <a:latin typeface="Viner Hand ITC" pitchFamily="66" charset="0"/>
            </a:endParaRPr>
          </a:p>
          <a:p>
            <a:r>
              <a:rPr lang="en-US" sz="2000" dirty="0">
                <a:latin typeface="Lucida Calligraphy" pitchFamily="66" charset="0"/>
              </a:rPr>
              <a:t>In this project we study the shop management system. It is developed in Java and the database has been built in Microsoft Access only, keeping in mind the specifications of the system, Apart from MS-Access the organization have also implemented other database software like Oracle or SQL. For elaborating the system we have used simple data flow diagrams.</a:t>
            </a:r>
          </a:p>
          <a:p>
            <a:r>
              <a:rPr lang="en-US" sz="2000" dirty="0">
                <a:latin typeface="Lucida Calligraphy" pitchFamily="66" charset="0"/>
              </a:rPr>
              <a:t> </a:t>
            </a:r>
          </a:p>
          <a:p>
            <a:r>
              <a:rPr lang="en-US" sz="2000" b="1" dirty="0">
                <a:latin typeface="Lucida Calligraphy" pitchFamily="66" charset="0"/>
              </a:rPr>
              <a:t>Overall the project teaches us the essential skills like:</a:t>
            </a:r>
            <a:endParaRPr lang="en-US" sz="2000" dirty="0">
              <a:latin typeface="Lucida Calligraphy" pitchFamily="66" charset="0"/>
            </a:endParaRPr>
          </a:p>
          <a:p>
            <a:r>
              <a:rPr lang="en-US" sz="2000" b="1" dirty="0">
                <a:latin typeface="Lucida Calligraphy" pitchFamily="66" charset="0"/>
              </a:rPr>
              <a:t> </a:t>
            </a:r>
            <a:endParaRPr lang="en-US" sz="2000" dirty="0">
              <a:latin typeface="Lucida Calligraphy" pitchFamily="66" charset="0"/>
            </a:endParaRPr>
          </a:p>
          <a:p>
            <a:pPr lvl="0"/>
            <a:r>
              <a:rPr lang="en-US" sz="2000" dirty="0">
                <a:latin typeface="Lucida Calligraphy" pitchFamily="66" charset="0"/>
              </a:rPr>
              <a:t>Using system analysis and design techniques like data flow diagram in designing the system.</a:t>
            </a:r>
          </a:p>
          <a:p>
            <a:r>
              <a:rPr lang="en-US" sz="2000" dirty="0">
                <a:latin typeface="Lucida Calligraphy" pitchFamily="66" charset="0"/>
              </a:rPr>
              <a:t> </a:t>
            </a:r>
          </a:p>
          <a:p>
            <a:pPr lvl="0"/>
            <a:r>
              <a:rPr lang="en-US" sz="2000" dirty="0">
                <a:latin typeface="Lucida Calligraphy" pitchFamily="66" charset="0"/>
              </a:rPr>
              <a:t>Understanding programming logic and language along with utilities like reports, forms, queries etc. in Eclipse, </a:t>
            </a:r>
            <a:r>
              <a:rPr lang="en-US" sz="2000" dirty="0" err="1">
                <a:latin typeface="Lucida Calligraphy" pitchFamily="66" charset="0"/>
              </a:rPr>
              <a:t>Jcreator</a:t>
            </a:r>
            <a:r>
              <a:rPr lang="en-US" sz="2000" dirty="0">
                <a:latin typeface="Lucida Calligraphy" pitchFamily="66" charset="0"/>
              </a:rPr>
              <a:t> and PL/SQL</a:t>
            </a:r>
            <a:r>
              <a:rPr lang="en-US" dirty="0"/>
              <a:t>.</a:t>
            </a:r>
          </a:p>
        </p:txBody>
      </p:sp>
    </p:spTree>
    <p:extLst>
      <p:ext uri="{BB962C8B-B14F-4D97-AF65-F5344CB8AC3E}">
        <p14:creationId xmlns:p14="http://schemas.microsoft.com/office/powerpoint/2010/main" val="12802320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3427" y="117693"/>
            <a:ext cx="7315200" cy="6740307"/>
          </a:xfrm>
          <a:prstGeom prst="rect">
            <a:avLst/>
          </a:prstGeom>
        </p:spPr>
        <p:txBody>
          <a:bodyPr wrap="square">
            <a:spAutoFit/>
          </a:bodyPr>
          <a:lstStyle/>
          <a:p>
            <a:pPr algn="ctr"/>
            <a:r>
              <a:rPr lang="en-US" sz="5400" b="1" dirty="0" smtClean="0">
                <a:latin typeface="Viner Hand ITC" pitchFamily="66" charset="0"/>
              </a:rPr>
              <a:t>Limitation</a:t>
            </a:r>
            <a:endParaRPr lang="en-US" dirty="0"/>
          </a:p>
          <a:p>
            <a:r>
              <a:rPr lang="en-US" dirty="0"/>
              <a:t> </a:t>
            </a:r>
          </a:p>
          <a:p>
            <a:pPr marL="285750" lvl="0" indent="-285750">
              <a:buFont typeface="Wingdings" pitchFamily="2" charset="2"/>
              <a:buChar char="Ø"/>
            </a:pPr>
            <a:r>
              <a:rPr lang="en-US" dirty="0">
                <a:latin typeface="Lucida Calligraphy" pitchFamily="66" charset="0"/>
              </a:rPr>
              <a:t>The limitations of the shop management system is not knowing an exact stock count in the middle of the period and running the risk of stock outs</a:t>
            </a:r>
            <a:r>
              <a:rPr lang="en-US" dirty="0" smtClean="0">
                <a:latin typeface="Lucida Calligraphy" pitchFamily="66" charset="0"/>
              </a:rPr>
              <a:t>.</a:t>
            </a:r>
            <a:endParaRPr lang="en-US" dirty="0">
              <a:latin typeface="Lucida Calligraphy" pitchFamily="66" charset="0"/>
            </a:endParaRPr>
          </a:p>
          <a:p>
            <a:pPr marL="285750" lvl="0" indent="-285750">
              <a:buFont typeface="Wingdings" pitchFamily="2" charset="2"/>
              <a:buChar char="Ø"/>
            </a:pPr>
            <a:r>
              <a:rPr lang="en-US" dirty="0">
                <a:latin typeface="Lucida Calligraphy" pitchFamily="66" charset="0"/>
              </a:rPr>
              <a:t>With the shop management system, the company knows the stock level with certainty only when it physically counts the inventory at the end of each shop</a:t>
            </a:r>
            <a:r>
              <a:rPr lang="en-US" dirty="0" smtClean="0">
                <a:latin typeface="Lucida Calligraphy" pitchFamily="66" charset="0"/>
              </a:rPr>
              <a:t>.</a:t>
            </a:r>
            <a:endParaRPr lang="en-US" dirty="0">
              <a:latin typeface="Lucida Calligraphy" pitchFamily="66" charset="0"/>
            </a:endParaRPr>
          </a:p>
          <a:p>
            <a:pPr marL="285750" lvl="0" indent="-285750">
              <a:buFont typeface="Wingdings" pitchFamily="2" charset="2"/>
              <a:buChar char="Ø"/>
            </a:pPr>
            <a:r>
              <a:rPr lang="en-US" dirty="0">
                <a:latin typeface="Lucida Calligraphy" pitchFamily="66" charset="0"/>
              </a:rPr>
              <a:t>Throughout the period, the company takes customer orders without knowing the exact inventory count or whether enough products are available to meet customer demand</a:t>
            </a:r>
            <a:r>
              <a:rPr lang="en-US" dirty="0" smtClean="0">
                <a:latin typeface="Lucida Calligraphy" pitchFamily="66" charset="0"/>
              </a:rPr>
              <a:t>.</a:t>
            </a:r>
            <a:endParaRPr lang="en-US" dirty="0">
              <a:latin typeface="Lucida Calligraphy" pitchFamily="66" charset="0"/>
            </a:endParaRPr>
          </a:p>
          <a:p>
            <a:pPr marL="285750" lvl="0" indent="-285750">
              <a:buFont typeface="Wingdings" pitchFamily="2" charset="2"/>
              <a:buChar char="Ø"/>
            </a:pPr>
            <a:r>
              <a:rPr lang="en-US" dirty="0">
                <a:latin typeface="Lucida Calligraphy" pitchFamily="66" charset="0"/>
              </a:rPr>
              <a:t>The limitations of a shop management system include a false sense of reliability and dependence on human entry</a:t>
            </a:r>
            <a:r>
              <a:rPr lang="en-US" dirty="0" smtClean="0">
                <a:latin typeface="Lucida Calligraphy" pitchFamily="66" charset="0"/>
              </a:rPr>
              <a:t>.</a:t>
            </a:r>
            <a:endParaRPr lang="en-US" dirty="0">
              <a:latin typeface="Lucida Calligraphy" pitchFamily="66" charset="0"/>
            </a:endParaRPr>
          </a:p>
          <a:p>
            <a:pPr marL="285750" lvl="0" indent="-285750">
              <a:buFont typeface="Wingdings" pitchFamily="2" charset="2"/>
              <a:buChar char="Ø"/>
            </a:pPr>
            <a:r>
              <a:rPr lang="en-US" dirty="0">
                <a:latin typeface="Lucida Calligraphy" pitchFamily="66" charset="0"/>
              </a:rPr>
              <a:t>Although a shop management system updates each time a transaction enters the system, it might lack information regarding stolen, damaged or scrapped units</a:t>
            </a:r>
            <a:r>
              <a:rPr lang="en-US" dirty="0" smtClean="0">
                <a:latin typeface="Lucida Calligraphy" pitchFamily="66" charset="0"/>
              </a:rPr>
              <a:t>.</a:t>
            </a:r>
            <a:endParaRPr lang="en-US" dirty="0">
              <a:latin typeface="Lucida Calligraphy" pitchFamily="66" charset="0"/>
            </a:endParaRPr>
          </a:p>
          <a:p>
            <a:pPr marL="285750" lvl="0" indent="-285750">
              <a:buFont typeface="Wingdings" pitchFamily="2" charset="2"/>
              <a:buChar char="Ø"/>
            </a:pPr>
            <a:r>
              <a:rPr lang="en-US" dirty="0">
                <a:latin typeface="Lucida Calligraphy" pitchFamily="66" charset="0"/>
              </a:rPr>
              <a:t>The company remains unaware of the theft or waste, known as shrinkage, until it performs a physical count at least once per year</a:t>
            </a:r>
            <a:r>
              <a:rPr lang="en-US" dirty="0" smtClean="0">
                <a:latin typeface="Lucida Calligraphy" pitchFamily="66" charset="0"/>
              </a:rPr>
              <a:t>.</a:t>
            </a:r>
            <a:endParaRPr lang="en-US" dirty="0">
              <a:latin typeface="Lucida Calligraphy" pitchFamily="66" charset="0"/>
            </a:endParaRPr>
          </a:p>
        </p:txBody>
      </p:sp>
    </p:spTree>
    <p:extLst>
      <p:ext uri="{BB962C8B-B14F-4D97-AF65-F5344CB8AC3E}">
        <p14:creationId xmlns:p14="http://schemas.microsoft.com/office/powerpoint/2010/main" val="12130233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914400"/>
            <a:ext cx="7924800" cy="4524315"/>
          </a:xfrm>
          <a:prstGeom prst="rect">
            <a:avLst/>
          </a:prstGeom>
        </p:spPr>
        <p:txBody>
          <a:bodyPr wrap="square">
            <a:spAutoFit/>
          </a:bodyPr>
          <a:lstStyle/>
          <a:p>
            <a:pPr algn="ctr"/>
            <a:r>
              <a:rPr lang="en-US" sz="5400" b="1" dirty="0">
                <a:latin typeface="Viner Hand ITC" pitchFamily="66" charset="0"/>
              </a:rPr>
              <a:t>Future Enhancement</a:t>
            </a:r>
            <a:endParaRPr lang="en-US" b="1" dirty="0">
              <a:latin typeface="Viner Hand ITC" pitchFamily="66" charset="0"/>
            </a:endParaRPr>
          </a:p>
          <a:p>
            <a:pPr lvl="0"/>
            <a:endParaRPr lang="en-US" dirty="0" smtClean="0">
              <a:latin typeface="Lucida Calligraphy" pitchFamily="66" charset="0"/>
            </a:endParaRPr>
          </a:p>
          <a:p>
            <a:pPr marL="342900" lvl="0" indent="-342900">
              <a:buFont typeface="Wingdings" pitchFamily="2" charset="2"/>
              <a:buChar char="Ø"/>
            </a:pPr>
            <a:endParaRPr lang="en-US" sz="2400" dirty="0" smtClean="0">
              <a:latin typeface="Lucida Calligraphy" pitchFamily="66" charset="0"/>
            </a:endParaRPr>
          </a:p>
          <a:p>
            <a:pPr marL="342900" lvl="0" indent="-342900">
              <a:buFont typeface="Wingdings" pitchFamily="2" charset="2"/>
              <a:buChar char="Ø"/>
            </a:pPr>
            <a:r>
              <a:rPr lang="en-US" sz="2400" dirty="0" smtClean="0">
                <a:latin typeface="Lucida Calligraphy" pitchFamily="66" charset="0"/>
              </a:rPr>
              <a:t>System </a:t>
            </a:r>
            <a:r>
              <a:rPr lang="en-US" sz="2400" dirty="0">
                <a:latin typeface="Lucida Calligraphy" pitchFamily="66" charset="0"/>
              </a:rPr>
              <a:t>will provide facility of paying online and credit card.</a:t>
            </a:r>
          </a:p>
          <a:p>
            <a:endParaRPr lang="en-US" sz="2400" dirty="0">
              <a:latin typeface="Lucida Calligraphy" pitchFamily="66" charset="0"/>
            </a:endParaRPr>
          </a:p>
          <a:p>
            <a:pPr marL="342900" lvl="0" indent="-342900">
              <a:buFont typeface="Wingdings" pitchFamily="2" charset="2"/>
              <a:buChar char="Ø"/>
            </a:pPr>
            <a:r>
              <a:rPr lang="en-US" sz="2400" dirty="0">
                <a:latin typeface="Lucida Calligraphy" pitchFamily="66" charset="0"/>
              </a:rPr>
              <a:t>System will provide facility of generating order acceptance note</a:t>
            </a:r>
            <a:r>
              <a:rPr lang="en-US" sz="2400" dirty="0" smtClean="0">
                <a:latin typeface="Lucida Calligraphy" pitchFamily="66" charset="0"/>
              </a:rPr>
              <a:t>.</a:t>
            </a:r>
            <a:endParaRPr lang="en-US" sz="2400" dirty="0">
              <a:latin typeface="Lucida Calligraphy" pitchFamily="66" charset="0"/>
            </a:endParaRPr>
          </a:p>
          <a:p>
            <a:r>
              <a:rPr lang="en-US" sz="2400" dirty="0">
                <a:latin typeface="Lucida Calligraphy" pitchFamily="66" charset="0"/>
              </a:rPr>
              <a:t> </a:t>
            </a:r>
          </a:p>
          <a:p>
            <a:pPr marL="342900" indent="-342900">
              <a:buFont typeface="Wingdings" pitchFamily="2" charset="2"/>
              <a:buChar char="Ø"/>
            </a:pPr>
            <a:r>
              <a:rPr lang="en-US" sz="2400" dirty="0">
                <a:latin typeface="Lucida Calligraphy" pitchFamily="66" charset="0"/>
              </a:rPr>
              <a:t>System will be still more user friendly &amp; easy to use.</a:t>
            </a:r>
          </a:p>
        </p:txBody>
      </p:sp>
    </p:spTree>
    <p:extLst>
      <p:ext uri="{BB962C8B-B14F-4D97-AF65-F5344CB8AC3E}">
        <p14:creationId xmlns:p14="http://schemas.microsoft.com/office/powerpoint/2010/main" val="307536317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475357"/>
            <a:ext cx="7315200" cy="6001643"/>
          </a:xfrm>
          <a:prstGeom prst="rect">
            <a:avLst/>
          </a:prstGeom>
        </p:spPr>
        <p:txBody>
          <a:bodyPr wrap="square">
            <a:spAutoFit/>
          </a:bodyPr>
          <a:lstStyle/>
          <a:p>
            <a:r>
              <a:rPr lang="en-US" sz="5200" b="1" dirty="0" smtClean="0">
                <a:latin typeface="Viner Hand ITC" pitchFamily="66" charset="0"/>
              </a:rPr>
              <a:t>Software Requirements</a:t>
            </a:r>
            <a:endParaRPr lang="en-US" sz="5200" dirty="0">
              <a:latin typeface="Viner Hand ITC" pitchFamily="66" charset="0"/>
            </a:endParaRPr>
          </a:p>
          <a:p>
            <a:pPr lvl="0"/>
            <a:endParaRPr lang="en-US" sz="2400" b="1" dirty="0" smtClean="0">
              <a:latin typeface="Lucida Calligraphy" pitchFamily="66" charset="0"/>
            </a:endParaRPr>
          </a:p>
          <a:p>
            <a:pPr lvl="0"/>
            <a:r>
              <a:rPr lang="en-US" sz="2200" b="1" dirty="0" smtClean="0">
                <a:latin typeface="Lucida Calligraphy" pitchFamily="66" charset="0"/>
              </a:rPr>
              <a:t>Operating </a:t>
            </a:r>
            <a:r>
              <a:rPr lang="en-US" sz="2200" b="1" dirty="0">
                <a:latin typeface="Lucida Calligraphy" pitchFamily="66" charset="0"/>
              </a:rPr>
              <a:t>System:</a:t>
            </a:r>
            <a:r>
              <a:rPr lang="en-US" sz="2200" dirty="0">
                <a:latin typeface="Lucida Calligraphy" pitchFamily="66" charset="0"/>
              </a:rPr>
              <a:t> </a:t>
            </a:r>
            <a:endParaRPr lang="en-US" sz="2200" dirty="0" smtClean="0">
              <a:latin typeface="Lucida Calligraphy" pitchFamily="66" charset="0"/>
            </a:endParaRPr>
          </a:p>
          <a:p>
            <a:pPr lvl="0"/>
            <a:r>
              <a:rPr lang="en-US" sz="2200" dirty="0">
                <a:latin typeface="Lucida Calligraphy" pitchFamily="66" charset="0"/>
              </a:rPr>
              <a:t>	</a:t>
            </a:r>
            <a:r>
              <a:rPr lang="en-US" sz="2200" dirty="0" smtClean="0">
                <a:latin typeface="Lucida Calligraphy" pitchFamily="66" charset="0"/>
              </a:rPr>
              <a:t>Windows </a:t>
            </a:r>
            <a:r>
              <a:rPr lang="en-US" sz="2200" dirty="0">
                <a:latin typeface="Lucida Calligraphy" pitchFamily="66" charset="0"/>
              </a:rPr>
              <a:t>XP, Windows7, </a:t>
            </a:r>
            <a:r>
              <a:rPr lang="en-US" sz="2200" dirty="0" smtClean="0">
                <a:latin typeface="Lucida Calligraphy" pitchFamily="66" charset="0"/>
              </a:rPr>
              <a:t>Windows8</a:t>
            </a:r>
            <a:r>
              <a:rPr lang="en-US" sz="2200" dirty="0">
                <a:latin typeface="Lucida Calligraphy" pitchFamily="66" charset="0"/>
              </a:rPr>
              <a:t>, </a:t>
            </a:r>
            <a:r>
              <a:rPr lang="en-US" sz="2200" dirty="0" smtClean="0">
                <a:latin typeface="Lucida Calligraphy" pitchFamily="66" charset="0"/>
              </a:rPr>
              <a:t>	Windows10</a:t>
            </a:r>
            <a:r>
              <a:rPr lang="en-US" sz="2200" dirty="0">
                <a:latin typeface="Lucida Calligraphy" pitchFamily="66" charset="0"/>
              </a:rPr>
              <a:t>, Windows11.</a:t>
            </a:r>
          </a:p>
          <a:p>
            <a:r>
              <a:rPr lang="en-US" sz="2200" dirty="0">
                <a:latin typeface="Lucida Calligraphy" pitchFamily="66" charset="0"/>
              </a:rPr>
              <a:t> </a:t>
            </a:r>
          </a:p>
          <a:p>
            <a:pPr lvl="0"/>
            <a:r>
              <a:rPr lang="en-US" sz="2200" b="1" dirty="0">
                <a:latin typeface="Lucida Calligraphy" pitchFamily="66" charset="0"/>
              </a:rPr>
              <a:t>Language:</a:t>
            </a:r>
            <a:r>
              <a:rPr lang="en-US" sz="2200" dirty="0">
                <a:latin typeface="Lucida Calligraphy" pitchFamily="66" charset="0"/>
              </a:rPr>
              <a:t> </a:t>
            </a:r>
          </a:p>
          <a:p>
            <a:pPr lvl="0"/>
            <a:r>
              <a:rPr lang="en-US" sz="2200" dirty="0" smtClean="0">
                <a:latin typeface="Lucida Calligraphy" pitchFamily="66" charset="0"/>
              </a:rPr>
              <a:t>	Java</a:t>
            </a:r>
            <a:endParaRPr lang="en-US" sz="2200" dirty="0">
              <a:latin typeface="Lucida Calligraphy" pitchFamily="66" charset="0"/>
            </a:endParaRPr>
          </a:p>
          <a:p>
            <a:r>
              <a:rPr lang="en-US" sz="2200" dirty="0">
                <a:latin typeface="Lucida Calligraphy" pitchFamily="66" charset="0"/>
              </a:rPr>
              <a:t> </a:t>
            </a:r>
          </a:p>
          <a:p>
            <a:pPr lvl="0"/>
            <a:r>
              <a:rPr lang="en-US" sz="2200" b="1" dirty="0">
                <a:latin typeface="Lucida Calligraphy" pitchFamily="66" charset="0"/>
              </a:rPr>
              <a:t>Database:</a:t>
            </a:r>
            <a:r>
              <a:rPr lang="en-US" sz="2200" dirty="0">
                <a:latin typeface="Lucida Calligraphy" pitchFamily="66" charset="0"/>
              </a:rPr>
              <a:t> </a:t>
            </a:r>
            <a:endParaRPr lang="en-US" sz="2200" dirty="0" smtClean="0">
              <a:latin typeface="Lucida Calligraphy" pitchFamily="66" charset="0"/>
            </a:endParaRPr>
          </a:p>
          <a:p>
            <a:pPr lvl="0"/>
            <a:r>
              <a:rPr lang="en-US" sz="2200" dirty="0">
                <a:latin typeface="Lucida Calligraphy" pitchFamily="66" charset="0"/>
              </a:rPr>
              <a:t>	</a:t>
            </a:r>
            <a:r>
              <a:rPr lang="en-US" sz="2200" dirty="0" smtClean="0">
                <a:latin typeface="Lucida Calligraphy" pitchFamily="66" charset="0"/>
              </a:rPr>
              <a:t>Microsoft </a:t>
            </a:r>
            <a:r>
              <a:rPr lang="en-US" sz="2200" dirty="0">
                <a:latin typeface="Lucida Calligraphy" pitchFamily="66" charset="0"/>
              </a:rPr>
              <a:t>Access</a:t>
            </a:r>
          </a:p>
          <a:p>
            <a:r>
              <a:rPr lang="en-US" sz="2200" dirty="0">
                <a:latin typeface="Lucida Calligraphy" pitchFamily="66" charset="0"/>
              </a:rPr>
              <a:t> </a:t>
            </a:r>
          </a:p>
          <a:p>
            <a:r>
              <a:rPr lang="en-US" sz="2200" b="1" dirty="0">
                <a:latin typeface="Lucida Calligraphy" pitchFamily="66" charset="0"/>
              </a:rPr>
              <a:t>Software Development Kit:</a:t>
            </a:r>
            <a:r>
              <a:rPr lang="en-US" sz="2200" dirty="0">
                <a:latin typeface="Lucida Calligraphy" pitchFamily="66" charset="0"/>
              </a:rPr>
              <a:t> </a:t>
            </a:r>
          </a:p>
          <a:p>
            <a:r>
              <a:rPr lang="en-US" sz="2200" dirty="0" smtClean="0">
                <a:latin typeface="Lucida Calligraphy" pitchFamily="66" charset="0"/>
              </a:rPr>
              <a:t>	Notepad</a:t>
            </a:r>
            <a:r>
              <a:rPr lang="en-US" sz="2200" dirty="0">
                <a:latin typeface="Lucida Calligraphy" pitchFamily="66" charset="0"/>
              </a:rPr>
              <a:t>, </a:t>
            </a:r>
            <a:r>
              <a:rPr lang="en-US" sz="2200" dirty="0" smtClean="0">
                <a:latin typeface="Lucida Calligraphy" pitchFamily="66" charset="0"/>
              </a:rPr>
              <a:t>Notepad</a:t>
            </a:r>
            <a:r>
              <a:rPr lang="en-US" sz="2200" dirty="0">
                <a:latin typeface="Lucida Calligraphy" pitchFamily="66" charset="0"/>
              </a:rPr>
              <a:t>++, Sublime Text, </a:t>
            </a:r>
            <a:r>
              <a:rPr lang="en-US" sz="2200" dirty="0" smtClean="0">
                <a:latin typeface="Lucida Calligraphy" pitchFamily="66" charset="0"/>
              </a:rPr>
              <a:t>	Visual Studio, </a:t>
            </a:r>
            <a:r>
              <a:rPr lang="en-US" sz="2200" dirty="0">
                <a:latin typeface="Lucida Calligraphy" pitchFamily="66" charset="0"/>
              </a:rPr>
              <a:t>CMD, JDK, </a:t>
            </a:r>
            <a:r>
              <a:rPr lang="en-US" sz="2200" dirty="0" err="1">
                <a:latin typeface="Lucida Calligraphy" pitchFamily="66" charset="0"/>
              </a:rPr>
              <a:t>Jcreator</a:t>
            </a:r>
            <a:r>
              <a:rPr lang="en-US" sz="2200" dirty="0">
                <a:latin typeface="Lucida Calligraphy" pitchFamily="66" charset="0"/>
              </a:rPr>
              <a:t> </a:t>
            </a:r>
            <a:r>
              <a:rPr lang="en-US" sz="2200" dirty="0" smtClean="0">
                <a:latin typeface="Lucida Calligraphy" pitchFamily="66" charset="0"/>
              </a:rPr>
              <a:t>Pro 	or Eclipse</a:t>
            </a:r>
            <a:r>
              <a:rPr lang="en-US" sz="2200" dirty="0">
                <a:latin typeface="Lucida Calligraphy" pitchFamily="66" charset="0"/>
              </a:rPr>
              <a:t>.	</a:t>
            </a:r>
          </a:p>
        </p:txBody>
      </p:sp>
    </p:spTree>
    <p:extLst>
      <p:ext uri="{BB962C8B-B14F-4D97-AF65-F5344CB8AC3E}">
        <p14:creationId xmlns:p14="http://schemas.microsoft.com/office/powerpoint/2010/main" val="15243594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228600"/>
            <a:ext cx="7315200" cy="6463308"/>
          </a:xfrm>
          <a:prstGeom prst="rect">
            <a:avLst/>
          </a:prstGeom>
        </p:spPr>
        <p:txBody>
          <a:bodyPr wrap="square">
            <a:spAutoFit/>
          </a:bodyPr>
          <a:lstStyle/>
          <a:p>
            <a:r>
              <a:rPr lang="en-US" sz="5000" b="1" dirty="0" smtClean="0">
                <a:latin typeface="Viner Hand ITC" pitchFamily="66" charset="0"/>
              </a:rPr>
              <a:t>Hardware Requirements</a:t>
            </a:r>
            <a:endParaRPr lang="en-US" sz="5000" dirty="0">
              <a:latin typeface="Viner Hand ITC" pitchFamily="66" charset="0"/>
            </a:endParaRPr>
          </a:p>
          <a:p>
            <a:pPr lvl="0"/>
            <a:endParaRPr lang="en-US" sz="2400" b="1" dirty="0" smtClean="0">
              <a:latin typeface="Lucida Calligraphy" pitchFamily="66" charset="0"/>
            </a:endParaRPr>
          </a:p>
          <a:p>
            <a:pPr lvl="0"/>
            <a:r>
              <a:rPr lang="en-US" sz="2000" b="1" dirty="0">
                <a:latin typeface="Lucida Calligraphy" pitchFamily="66" charset="0"/>
              </a:rPr>
              <a:t>Hardware :</a:t>
            </a:r>
            <a:r>
              <a:rPr lang="en-US" sz="2000" dirty="0">
                <a:latin typeface="Lucida Calligraphy" pitchFamily="66" charset="0"/>
              </a:rPr>
              <a:t> </a:t>
            </a:r>
            <a:endParaRPr lang="en-US" sz="2000" dirty="0" smtClean="0">
              <a:latin typeface="Lucida Calligraphy" pitchFamily="66" charset="0"/>
            </a:endParaRPr>
          </a:p>
          <a:p>
            <a:pPr lvl="0"/>
            <a:r>
              <a:rPr lang="en-US" sz="2000" dirty="0">
                <a:latin typeface="Lucida Calligraphy" pitchFamily="66" charset="0"/>
              </a:rPr>
              <a:t>	</a:t>
            </a:r>
            <a:r>
              <a:rPr lang="en-US" sz="2000" dirty="0" smtClean="0">
                <a:latin typeface="Lucida Calligraphy" pitchFamily="66" charset="0"/>
              </a:rPr>
              <a:t>&gt;= </a:t>
            </a:r>
            <a:r>
              <a:rPr lang="en-US" sz="2000" dirty="0">
                <a:latin typeface="Lucida Calligraphy" pitchFamily="66" charset="0"/>
              </a:rPr>
              <a:t>Processor Pentium III 630MHz </a:t>
            </a:r>
          </a:p>
          <a:p>
            <a:r>
              <a:rPr lang="en-US" sz="2000" dirty="0">
                <a:latin typeface="Lucida Calligraphy" pitchFamily="66" charset="0"/>
              </a:rPr>
              <a:t> </a:t>
            </a:r>
          </a:p>
          <a:p>
            <a:pPr lvl="0"/>
            <a:r>
              <a:rPr lang="en-US" sz="2000" b="1" dirty="0">
                <a:latin typeface="Lucida Calligraphy" pitchFamily="66" charset="0"/>
              </a:rPr>
              <a:t>RAM :</a:t>
            </a:r>
            <a:r>
              <a:rPr lang="en-US" sz="2000" dirty="0">
                <a:latin typeface="Lucida Calligraphy" pitchFamily="66" charset="0"/>
              </a:rPr>
              <a:t> </a:t>
            </a:r>
            <a:endParaRPr lang="en-US" sz="2000" dirty="0" smtClean="0">
              <a:latin typeface="Lucida Calligraphy" pitchFamily="66" charset="0"/>
            </a:endParaRPr>
          </a:p>
          <a:p>
            <a:pPr lvl="0"/>
            <a:r>
              <a:rPr lang="en-US" sz="2000" dirty="0">
                <a:latin typeface="Lucida Calligraphy" pitchFamily="66" charset="0"/>
              </a:rPr>
              <a:t>	</a:t>
            </a:r>
            <a:r>
              <a:rPr lang="en-US" sz="2000" dirty="0" smtClean="0">
                <a:latin typeface="Lucida Calligraphy" pitchFamily="66" charset="0"/>
              </a:rPr>
              <a:t>&gt;= </a:t>
            </a:r>
            <a:r>
              <a:rPr lang="en-US" sz="2000" dirty="0">
                <a:latin typeface="Lucida Calligraphy" pitchFamily="66" charset="0"/>
              </a:rPr>
              <a:t>512 MB</a:t>
            </a:r>
          </a:p>
          <a:p>
            <a:r>
              <a:rPr lang="en-US" sz="2000" dirty="0">
                <a:latin typeface="Lucida Calligraphy" pitchFamily="66" charset="0"/>
              </a:rPr>
              <a:t> </a:t>
            </a:r>
          </a:p>
          <a:p>
            <a:pPr lvl="0"/>
            <a:r>
              <a:rPr lang="en-US" sz="2000" b="1" dirty="0">
                <a:latin typeface="Lucida Calligraphy" pitchFamily="66" charset="0"/>
              </a:rPr>
              <a:t>Hard disk :</a:t>
            </a:r>
            <a:r>
              <a:rPr lang="en-US" sz="2000" dirty="0">
                <a:latin typeface="Lucida Calligraphy" pitchFamily="66" charset="0"/>
              </a:rPr>
              <a:t> </a:t>
            </a:r>
            <a:endParaRPr lang="en-US" sz="2000" dirty="0" smtClean="0">
              <a:latin typeface="Lucida Calligraphy" pitchFamily="66" charset="0"/>
            </a:endParaRPr>
          </a:p>
          <a:p>
            <a:pPr lvl="0"/>
            <a:r>
              <a:rPr lang="en-US" sz="2000" dirty="0">
                <a:latin typeface="Lucida Calligraphy" pitchFamily="66" charset="0"/>
              </a:rPr>
              <a:t>	</a:t>
            </a:r>
            <a:r>
              <a:rPr lang="en-US" sz="2000" dirty="0" smtClean="0">
                <a:latin typeface="Lucida Calligraphy" pitchFamily="66" charset="0"/>
              </a:rPr>
              <a:t>&gt;= </a:t>
            </a:r>
            <a:r>
              <a:rPr lang="en-US" sz="2000" dirty="0">
                <a:latin typeface="Lucida Calligraphy" pitchFamily="66" charset="0"/>
              </a:rPr>
              <a:t>50 GB</a:t>
            </a:r>
          </a:p>
          <a:p>
            <a:r>
              <a:rPr lang="en-US" sz="2000" dirty="0">
                <a:latin typeface="Lucida Calligraphy" pitchFamily="66" charset="0"/>
              </a:rPr>
              <a:t> </a:t>
            </a:r>
          </a:p>
          <a:p>
            <a:pPr lvl="0"/>
            <a:r>
              <a:rPr lang="en-US" sz="2000" b="1" dirty="0">
                <a:latin typeface="Lucida Calligraphy" pitchFamily="66" charset="0"/>
              </a:rPr>
              <a:t>Monitor :</a:t>
            </a:r>
            <a:r>
              <a:rPr lang="en-US" sz="2000" dirty="0">
                <a:latin typeface="Lucida Calligraphy" pitchFamily="66" charset="0"/>
              </a:rPr>
              <a:t> </a:t>
            </a:r>
            <a:endParaRPr lang="en-US" sz="2000" dirty="0" smtClean="0">
              <a:latin typeface="Lucida Calligraphy" pitchFamily="66" charset="0"/>
            </a:endParaRPr>
          </a:p>
          <a:p>
            <a:pPr lvl="0"/>
            <a:r>
              <a:rPr lang="en-US" sz="2000" dirty="0">
                <a:latin typeface="Lucida Calligraphy" pitchFamily="66" charset="0"/>
              </a:rPr>
              <a:t>	</a:t>
            </a:r>
            <a:r>
              <a:rPr lang="en-US" sz="2000" dirty="0" smtClean="0">
                <a:latin typeface="Lucida Calligraphy" pitchFamily="66" charset="0"/>
              </a:rPr>
              <a:t>Color </a:t>
            </a:r>
            <a:r>
              <a:rPr lang="en-US" sz="2000" dirty="0">
                <a:latin typeface="Lucida Calligraphy" pitchFamily="66" charset="0"/>
              </a:rPr>
              <a:t>monitor</a:t>
            </a:r>
          </a:p>
          <a:p>
            <a:r>
              <a:rPr lang="en-US" sz="2000" dirty="0">
                <a:latin typeface="Lucida Calligraphy" pitchFamily="66" charset="0"/>
              </a:rPr>
              <a:t> </a:t>
            </a:r>
          </a:p>
          <a:p>
            <a:pPr lvl="0"/>
            <a:r>
              <a:rPr lang="en-US" sz="2000" b="1" dirty="0">
                <a:latin typeface="Lucida Calligraphy" pitchFamily="66" charset="0"/>
              </a:rPr>
              <a:t>Keyboard :</a:t>
            </a:r>
            <a:r>
              <a:rPr lang="en-US" sz="2000" dirty="0">
                <a:latin typeface="Lucida Calligraphy" pitchFamily="66" charset="0"/>
              </a:rPr>
              <a:t> </a:t>
            </a:r>
            <a:endParaRPr lang="en-US" sz="2000" dirty="0" smtClean="0">
              <a:latin typeface="Lucida Calligraphy" pitchFamily="66" charset="0"/>
            </a:endParaRPr>
          </a:p>
          <a:p>
            <a:pPr lvl="0"/>
            <a:r>
              <a:rPr lang="en-US" sz="2000" dirty="0">
                <a:latin typeface="Lucida Calligraphy" pitchFamily="66" charset="0"/>
              </a:rPr>
              <a:t>	</a:t>
            </a:r>
            <a:r>
              <a:rPr lang="en-US" sz="2000" dirty="0" smtClean="0">
                <a:latin typeface="Lucida Calligraphy" pitchFamily="66" charset="0"/>
              </a:rPr>
              <a:t>122 </a:t>
            </a:r>
            <a:r>
              <a:rPr lang="en-US" sz="2000" dirty="0">
                <a:latin typeface="Lucida Calligraphy" pitchFamily="66" charset="0"/>
              </a:rPr>
              <a:t>key</a:t>
            </a:r>
          </a:p>
          <a:p>
            <a:r>
              <a:rPr lang="en-US" sz="2000" dirty="0">
                <a:latin typeface="Lucida Calligraphy" pitchFamily="66" charset="0"/>
              </a:rPr>
              <a:t> </a:t>
            </a:r>
          </a:p>
          <a:p>
            <a:pPr lvl="0"/>
            <a:r>
              <a:rPr lang="en-US" sz="2000" b="1" dirty="0">
                <a:latin typeface="Lucida Calligraphy" pitchFamily="66" charset="0"/>
              </a:rPr>
              <a:t>Mouse :</a:t>
            </a:r>
            <a:r>
              <a:rPr lang="en-US" sz="2000" dirty="0">
                <a:latin typeface="Lucida Calligraphy" pitchFamily="66" charset="0"/>
              </a:rPr>
              <a:t> </a:t>
            </a:r>
            <a:endParaRPr lang="en-US" sz="2000" dirty="0" smtClean="0">
              <a:latin typeface="Lucida Calligraphy" pitchFamily="66" charset="0"/>
            </a:endParaRPr>
          </a:p>
          <a:p>
            <a:pPr lvl="0"/>
            <a:r>
              <a:rPr lang="en-US" sz="2000" dirty="0">
                <a:latin typeface="Lucida Calligraphy" pitchFamily="66" charset="0"/>
              </a:rPr>
              <a:t>	</a:t>
            </a:r>
            <a:r>
              <a:rPr lang="en-US" sz="2000" dirty="0" smtClean="0">
                <a:latin typeface="Lucida Calligraphy" pitchFamily="66" charset="0"/>
              </a:rPr>
              <a:t>Wired </a:t>
            </a:r>
            <a:r>
              <a:rPr lang="en-US" sz="2000" dirty="0">
                <a:latin typeface="Lucida Calligraphy" pitchFamily="66" charset="0"/>
              </a:rPr>
              <a:t>or Wireless</a:t>
            </a:r>
          </a:p>
        </p:txBody>
      </p:sp>
    </p:spTree>
    <p:extLst>
      <p:ext uri="{BB962C8B-B14F-4D97-AF65-F5344CB8AC3E}">
        <p14:creationId xmlns:p14="http://schemas.microsoft.com/office/powerpoint/2010/main" val="13738417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863600"/>
            <a:ext cx="4572000" cy="5632311"/>
          </a:xfrm>
          <a:prstGeom prst="rect">
            <a:avLst/>
          </a:prstGeom>
        </p:spPr>
        <p:txBody>
          <a:bodyPr>
            <a:spAutoFit/>
          </a:bodyPr>
          <a:lstStyle/>
          <a:p>
            <a:pPr algn="ctr"/>
            <a:r>
              <a:rPr lang="en-US" sz="5400" b="1" dirty="0">
                <a:latin typeface="Viner Hand ITC" pitchFamily="66" charset="0"/>
              </a:rPr>
              <a:t>Bibliography</a:t>
            </a:r>
            <a:endParaRPr lang="en-US" sz="5400" dirty="0">
              <a:latin typeface="Viner Hand ITC" pitchFamily="66" charset="0"/>
            </a:endParaRPr>
          </a:p>
          <a:p>
            <a:r>
              <a:rPr lang="en-US" dirty="0"/>
              <a:t> </a:t>
            </a:r>
          </a:p>
          <a:p>
            <a:pPr lvl="0"/>
            <a:r>
              <a:rPr lang="en-US" b="1" dirty="0">
                <a:latin typeface="Lucida Calligraphy" pitchFamily="66" charset="0"/>
              </a:rPr>
              <a:t>Book Reference :</a:t>
            </a:r>
            <a:endParaRPr lang="en-US" dirty="0">
              <a:latin typeface="Lucida Calligraphy" pitchFamily="66" charset="0"/>
            </a:endParaRPr>
          </a:p>
          <a:p>
            <a:pPr lvl="0"/>
            <a:r>
              <a:rPr lang="en-US" dirty="0">
                <a:latin typeface="Lucida Calligraphy" pitchFamily="66" charset="0"/>
              </a:rPr>
              <a:t>Core Java and Adv. Java </a:t>
            </a:r>
          </a:p>
          <a:p>
            <a:pPr lvl="0"/>
            <a:r>
              <a:rPr lang="en-US" dirty="0">
                <a:latin typeface="Lucida Calligraphy" pitchFamily="66" charset="0"/>
              </a:rPr>
              <a:t>DBMS</a:t>
            </a:r>
          </a:p>
          <a:p>
            <a:pPr lvl="0"/>
            <a:r>
              <a:rPr lang="en-US" dirty="0">
                <a:latin typeface="Lucida Calligraphy" pitchFamily="66" charset="0"/>
              </a:rPr>
              <a:t> Software Engineering</a:t>
            </a:r>
          </a:p>
          <a:p>
            <a:r>
              <a:rPr lang="en-US" dirty="0">
                <a:latin typeface="Lucida Calligraphy" pitchFamily="66" charset="0"/>
              </a:rPr>
              <a:t> </a:t>
            </a:r>
          </a:p>
          <a:p>
            <a:pPr lvl="0"/>
            <a:r>
              <a:rPr lang="en-US" b="1" dirty="0">
                <a:latin typeface="Lucida Calligraphy" pitchFamily="66" charset="0"/>
              </a:rPr>
              <a:t>Website Reference :</a:t>
            </a:r>
            <a:endParaRPr lang="en-US" dirty="0">
              <a:latin typeface="Lucida Calligraphy" pitchFamily="66" charset="0"/>
            </a:endParaRPr>
          </a:p>
          <a:p>
            <a:pPr lvl="0"/>
            <a:r>
              <a:rPr lang="en-US" dirty="0">
                <a:latin typeface="Lucida Calligraphy" pitchFamily="66" charset="0"/>
              </a:rPr>
              <a:t> </a:t>
            </a:r>
            <a:r>
              <a:rPr lang="en-US" u="sng" dirty="0">
                <a:latin typeface="Lucida Calligraphy" pitchFamily="66" charset="0"/>
                <a:hlinkClick r:id="rId2"/>
              </a:rPr>
              <a:t>www.google.com</a:t>
            </a:r>
            <a:endParaRPr lang="en-US" dirty="0">
              <a:latin typeface="Lucida Calligraphy" pitchFamily="66" charset="0"/>
            </a:endParaRPr>
          </a:p>
          <a:p>
            <a:pPr lvl="0"/>
            <a:r>
              <a:rPr lang="en-US" dirty="0">
                <a:latin typeface="Lucida Calligraphy" pitchFamily="66" charset="0"/>
              </a:rPr>
              <a:t> </a:t>
            </a:r>
            <a:r>
              <a:rPr lang="en-US" u="sng" dirty="0">
                <a:latin typeface="Lucida Calligraphy" pitchFamily="66" charset="0"/>
                <a:hlinkClick r:id="rId3"/>
              </a:rPr>
              <a:t>www.youtube.com</a:t>
            </a:r>
            <a:endParaRPr lang="en-US" dirty="0">
              <a:latin typeface="Lucida Calligraphy" pitchFamily="66" charset="0"/>
            </a:endParaRPr>
          </a:p>
          <a:p>
            <a:pPr lvl="0"/>
            <a:r>
              <a:rPr lang="en-US" dirty="0">
                <a:latin typeface="Lucida Calligraphy" pitchFamily="66" charset="0"/>
              </a:rPr>
              <a:t> </a:t>
            </a:r>
            <a:r>
              <a:rPr lang="en-US" u="sng" dirty="0">
                <a:latin typeface="Lucida Calligraphy" pitchFamily="66" charset="0"/>
                <a:hlinkClick r:id="rId4"/>
              </a:rPr>
              <a:t>www.w3schools.com</a:t>
            </a:r>
            <a:endParaRPr lang="en-US" dirty="0">
              <a:latin typeface="Lucida Calligraphy" pitchFamily="66" charset="0"/>
            </a:endParaRPr>
          </a:p>
          <a:p>
            <a:pPr lvl="0"/>
            <a:r>
              <a:rPr lang="en-US" u="sng" dirty="0">
                <a:latin typeface="Lucida Calligraphy" pitchFamily="66" charset="0"/>
                <a:hlinkClick r:id="rId5"/>
              </a:rPr>
              <a:t>www.geeksforgeeks.com</a:t>
            </a:r>
            <a:endParaRPr lang="en-US" dirty="0">
              <a:latin typeface="Lucida Calligraphy" pitchFamily="66" charset="0"/>
            </a:endParaRPr>
          </a:p>
          <a:p>
            <a:r>
              <a:rPr lang="en-US" dirty="0">
                <a:latin typeface="Lucida Calligraphy" pitchFamily="66" charset="0"/>
              </a:rPr>
              <a:t> </a:t>
            </a:r>
          </a:p>
          <a:p>
            <a:pPr lvl="0"/>
            <a:r>
              <a:rPr lang="en-US" b="1" dirty="0">
                <a:latin typeface="Lucida Calligraphy" pitchFamily="66" charset="0"/>
              </a:rPr>
              <a:t>Software Reference:</a:t>
            </a:r>
            <a:endParaRPr lang="en-US" dirty="0">
              <a:latin typeface="Lucida Calligraphy" pitchFamily="66" charset="0"/>
            </a:endParaRPr>
          </a:p>
          <a:p>
            <a:pPr lvl="0"/>
            <a:r>
              <a:rPr lang="en-US" dirty="0">
                <a:latin typeface="Lucida Calligraphy" pitchFamily="66" charset="0"/>
              </a:rPr>
              <a:t>Notepad ++</a:t>
            </a:r>
          </a:p>
          <a:p>
            <a:pPr lvl="0"/>
            <a:r>
              <a:rPr lang="en-US" dirty="0">
                <a:latin typeface="Lucida Calligraphy" pitchFamily="66" charset="0"/>
              </a:rPr>
              <a:t>JDK</a:t>
            </a:r>
          </a:p>
          <a:p>
            <a:pPr lvl="0"/>
            <a:r>
              <a:rPr lang="en-US" dirty="0" err="1">
                <a:latin typeface="Lucida Calligraphy" pitchFamily="66" charset="0"/>
              </a:rPr>
              <a:t>Jcreator</a:t>
            </a:r>
            <a:r>
              <a:rPr lang="en-US" dirty="0">
                <a:latin typeface="Lucida Calligraphy" pitchFamily="66" charset="0"/>
              </a:rPr>
              <a:t> Pro, Eclipse</a:t>
            </a:r>
          </a:p>
          <a:p>
            <a:pPr lvl="0"/>
            <a:r>
              <a:rPr lang="en-US" dirty="0">
                <a:latin typeface="Lucida Calligraphy" pitchFamily="66" charset="0"/>
              </a:rPr>
              <a:t>CMD</a:t>
            </a:r>
          </a:p>
        </p:txBody>
      </p:sp>
    </p:spTree>
    <p:extLst>
      <p:ext uri="{BB962C8B-B14F-4D97-AF65-F5344CB8AC3E}">
        <p14:creationId xmlns:p14="http://schemas.microsoft.com/office/powerpoint/2010/main" val="205862341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cstate="print">
            <a:extLst>
              <a:ext uri="{28A0092B-C50C-407E-A947-70E740481C1C}">
                <a14:useLocalDpi xmlns:a14="http://schemas.microsoft.com/office/drawing/2010/main" val="0"/>
              </a:ext>
            </a:extLst>
          </a:blip>
          <a:stretch>
            <a:fillRect/>
          </a:stretch>
        </p:blipFill>
        <p:spPr>
          <a:xfrm>
            <a:off x="304800" y="5344886"/>
            <a:ext cx="8534400" cy="1219200"/>
          </a:xfrm>
          <a:prstGeom prst="rect">
            <a:avLst/>
          </a:prstGeom>
        </p:spPr>
      </p:pic>
    </p:spTree>
    <p:extLst>
      <p:ext uri="{BB962C8B-B14F-4D97-AF65-F5344CB8AC3E}">
        <p14:creationId xmlns:p14="http://schemas.microsoft.com/office/powerpoint/2010/main" val="257524601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ackTie">
  <a:themeElements>
    <a:clrScheme name="BlackTie">
      <a:dk1>
        <a:srgbClr val="000000"/>
      </a:dk1>
      <a:lt1>
        <a:srgbClr val="FFFFFF"/>
      </a:lt1>
      <a:dk2>
        <a:srgbClr val="46464A"/>
      </a:dk2>
      <a:lt2>
        <a:srgbClr val="E3DCCF"/>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BlackTie">
      <a:majorFont>
        <a:latin typeface="Garamond"/>
        <a:ea typeface=""/>
        <a:cs typeface=""/>
        <a:font script="Grek" typeface="Constantia"/>
        <a:font script="Cyrl" typeface="Constantia"/>
        <a:font script="Jpan" typeface="ＭＳ Ｐ明朝"/>
        <a:font script="Hang" typeface="궁서"/>
        <a:font script="Hans" typeface="仿宋"/>
        <a:font script="Hant" typeface="標楷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aramond"/>
        <a:ea typeface=""/>
        <a:cs typeface=""/>
        <a:font script="Grek" typeface="Constantia"/>
        <a:font script="Cyrl" typeface="Constantia"/>
        <a:font script="Jpan" typeface="ＭＳ Ｐ明朝"/>
        <a:font script="Hang" typeface="궁서"/>
        <a:font script="Hans" typeface="仿宋"/>
        <a:font script="Hant" typeface="標楷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BlackTie">
      <a:fillStyleLst>
        <a:solidFill>
          <a:schemeClr val="phClr"/>
        </a:solidFill>
        <a:gradFill rotWithShape="1">
          <a:gsLst>
            <a:gs pos="0">
              <a:schemeClr val="phClr">
                <a:tint val="45000"/>
                <a:satMod val="220000"/>
              </a:schemeClr>
            </a:gs>
            <a:gs pos="30000">
              <a:schemeClr val="phClr">
                <a:tint val="61000"/>
                <a:satMod val="220000"/>
              </a:schemeClr>
            </a:gs>
            <a:gs pos="45000">
              <a:schemeClr val="phClr">
                <a:tint val="66000"/>
                <a:satMod val="240000"/>
              </a:schemeClr>
            </a:gs>
            <a:gs pos="55000">
              <a:schemeClr val="phClr">
                <a:tint val="66000"/>
                <a:satMod val="220000"/>
              </a:schemeClr>
            </a:gs>
            <a:gs pos="73000">
              <a:schemeClr val="phClr">
                <a:tint val="61000"/>
                <a:satMod val="220000"/>
              </a:schemeClr>
            </a:gs>
            <a:gs pos="100000">
              <a:schemeClr val="phClr">
                <a:tint val="45000"/>
                <a:satMod val="220000"/>
              </a:schemeClr>
            </a:gs>
          </a:gsLst>
          <a:lin ang="950000" scaled="1"/>
        </a:gradFill>
        <a:gradFill rotWithShape="1">
          <a:gsLst>
            <a:gs pos="0">
              <a:schemeClr val="phClr">
                <a:shade val="63000"/>
                <a:satMod val="110000"/>
              </a:schemeClr>
            </a:gs>
            <a:gs pos="30000">
              <a:schemeClr val="phClr">
                <a:shade val="90000"/>
                <a:satMod val="120000"/>
              </a:schemeClr>
            </a:gs>
            <a:gs pos="45000">
              <a:schemeClr val="phClr">
                <a:shade val="100000"/>
                <a:satMod val="128000"/>
              </a:schemeClr>
            </a:gs>
            <a:gs pos="55000">
              <a:schemeClr val="phClr">
                <a:shade val="100000"/>
                <a:satMod val="128000"/>
              </a:schemeClr>
            </a:gs>
            <a:gs pos="73000">
              <a:schemeClr val="phClr">
                <a:shade val="90000"/>
                <a:satMod val="120000"/>
              </a:schemeClr>
            </a:gs>
            <a:gs pos="100000">
              <a:schemeClr val="phClr">
                <a:shade val="63000"/>
                <a:satMod val="110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1909" dir="5400000" rotWithShape="0">
              <a:srgbClr val="000000">
                <a:alpha val="40000"/>
              </a:srgbClr>
            </a:outerShdw>
          </a:effectLst>
        </a:effectStyle>
        <a:effectStyle>
          <a:effectLst>
            <a:outerShdw blurRad="57150" dist="38100" dir="5400000" algn="br" rotWithShape="0">
              <a:srgbClr val="000000">
                <a:alpha val="57000"/>
              </a:srgbClr>
            </a:outerShdw>
          </a:effectLst>
          <a:scene3d>
            <a:camera prst="orthographicFront">
              <a:rot lat="0" lon="0" rev="0"/>
            </a:camera>
            <a:lightRig rig="twoPt" dir="t">
              <a:rot lat="0" lon="0" rev="1800000"/>
            </a:lightRig>
          </a:scene3d>
          <a:sp3d>
            <a:bevelT w="44450" h="31750" prst="coolSlant"/>
          </a:sp3d>
        </a:effectStyle>
      </a:effectStyleLst>
      <a:bgFillStyleLst>
        <a:solidFill>
          <a:schemeClr val="phClr"/>
        </a:solidFill>
        <a:blipFill rotWithShape="1">
          <a:blip xmlns:r="http://schemas.openxmlformats.org/officeDocument/2006/relationships" r:embed="rId1">
            <a:duotone>
              <a:schemeClr val="phClr">
                <a:tint val="95000"/>
              </a:schemeClr>
              <a:schemeClr val="phClr">
                <a:shade val="20000"/>
              </a:schemeClr>
            </a:duotone>
          </a:blip>
          <a:stretch/>
        </a:blipFill>
        <a:gradFill rotWithShape="1">
          <a:gsLst>
            <a:gs pos="0">
              <a:schemeClr val="phClr">
                <a:tint val="40000"/>
                <a:satMod val="350000"/>
              </a:schemeClr>
            </a:gs>
            <a:gs pos="40000">
              <a:schemeClr val="phClr">
                <a:tint val="45000"/>
                <a:shade val="99000"/>
                <a:satMod val="350000"/>
              </a:schemeClr>
            </a:gs>
            <a:gs pos="100000">
              <a:schemeClr val="phClr">
                <a:shade val="30000"/>
                <a:satMod val="255000"/>
              </a:schemeClr>
            </a:gs>
          </a:gsLst>
          <a:path path="circle">
            <a:fillToRect l="50000" t="-80000" r="50000" b="18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Black Tie</Template>
  <TotalTime>418</TotalTime>
  <Words>675</Words>
  <Application>Microsoft Office PowerPoint</Application>
  <PresentationFormat>On-screen Show (4:3)</PresentationFormat>
  <Paragraphs>336</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BlackTie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Asif</dc:creator>
  <cp:lastModifiedBy>Sadaf Kauchali</cp:lastModifiedBy>
  <cp:revision>14</cp:revision>
  <dcterms:created xsi:type="dcterms:W3CDTF">2022-01-15T19:15:07Z</dcterms:created>
  <dcterms:modified xsi:type="dcterms:W3CDTF">2023-05-18T18:16:06Z</dcterms:modified>
</cp:coreProperties>
</file>